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1" r:id="rId2"/>
    <p:sldId id="260" r:id="rId3"/>
    <p:sldId id="267" r:id="rId4"/>
    <p:sldId id="268" r:id="rId5"/>
    <p:sldId id="266" r:id="rId6"/>
    <p:sldId id="269" r:id="rId7"/>
    <p:sldId id="263" r:id="rId8"/>
    <p:sldId id="262"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38"/>
    <p:restoredTop sz="94682"/>
  </p:normalViewPr>
  <p:slideViewPr>
    <p:cSldViewPr snapToGrid="0">
      <p:cViewPr varScale="1">
        <p:scale>
          <a:sx n="111" d="100"/>
          <a:sy n="111" d="100"/>
        </p:scale>
        <p:origin x="24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C7A78-9CBF-6017-7CDA-816ABF8FC7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483E69D-E2B4-7BEE-A7C7-1376B94808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D0922B-B327-FA66-4E0F-7EDB72F6CE8F}"/>
              </a:ext>
            </a:extLst>
          </p:cNvPr>
          <p:cNvSpPr>
            <a:spLocks noGrp="1"/>
          </p:cNvSpPr>
          <p:nvPr>
            <p:ph type="dt" sz="half" idx="10"/>
          </p:nvPr>
        </p:nvSpPr>
        <p:spPr/>
        <p:txBody>
          <a:bodyPr/>
          <a:lstStyle/>
          <a:p>
            <a:fld id="{79C7A70A-BD82-ED43-932F-028872592228}" type="datetimeFigureOut">
              <a:rPr lang="en-US" smtClean="0"/>
              <a:t>10/3/25</a:t>
            </a:fld>
            <a:endParaRPr lang="en-US"/>
          </a:p>
        </p:txBody>
      </p:sp>
      <p:sp>
        <p:nvSpPr>
          <p:cNvPr id="5" name="Footer Placeholder 4">
            <a:extLst>
              <a:ext uri="{FF2B5EF4-FFF2-40B4-BE49-F238E27FC236}">
                <a16:creationId xmlns:a16="http://schemas.microsoft.com/office/drawing/2014/main" id="{8A5D4F34-4593-C01F-8FEF-A5F03E5882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713CD6-DF50-E5DA-0BA4-B2B2F87F2F43}"/>
              </a:ext>
            </a:extLst>
          </p:cNvPr>
          <p:cNvSpPr>
            <a:spLocks noGrp="1"/>
          </p:cNvSpPr>
          <p:nvPr>
            <p:ph type="sldNum" sz="quarter" idx="12"/>
          </p:nvPr>
        </p:nvSpPr>
        <p:spPr/>
        <p:txBody>
          <a:bodyPr/>
          <a:lstStyle/>
          <a:p>
            <a:fld id="{EB60D430-AC4E-1744-A3A3-4A3F499132C5}" type="slidenum">
              <a:rPr lang="en-US" smtClean="0"/>
              <a:t>‹#›</a:t>
            </a:fld>
            <a:endParaRPr lang="en-US"/>
          </a:p>
        </p:txBody>
      </p:sp>
    </p:spTree>
    <p:extLst>
      <p:ext uri="{BB962C8B-B14F-4D97-AF65-F5344CB8AC3E}">
        <p14:creationId xmlns:p14="http://schemas.microsoft.com/office/powerpoint/2010/main" val="2736509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488B4-2B74-22FC-D655-24D3B32C5C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B2D501-009D-3FBB-06D0-B4CB74A990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6BF727-C3F9-333A-B76C-88BA93C456A8}"/>
              </a:ext>
            </a:extLst>
          </p:cNvPr>
          <p:cNvSpPr>
            <a:spLocks noGrp="1"/>
          </p:cNvSpPr>
          <p:nvPr>
            <p:ph type="dt" sz="half" idx="10"/>
          </p:nvPr>
        </p:nvSpPr>
        <p:spPr/>
        <p:txBody>
          <a:bodyPr/>
          <a:lstStyle/>
          <a:p>
            <a:fld id="{79C7A70A-BD82-ED43-932F-028872592228}" type="datetimeFigureOut">
              <a:rPr lang="en-US" smtClean="0"/>
              <a:t>10/3/25</a:t>
            </a:fld>
            <a:endParaRPr lang="en-US"/>
          </a:p>
        </p:txBody>
      </p:sp>
      <p:sp>
        <p:nvSpPr>
          <p:cNvPr id="5" name="Footer Placeholder 4">
            <a:extLst>
              <a:ext uri="{FF2B5EF4-FFF2-40B4-BE49-F238E27FC236}">
                <a16:creationId xmlns:a16="http://schemas.microsoft.com/office/drawing/2014/main" id="{EF82AFAB-DE58-98FA-AEEF-5EAAADBACA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2DF257-E77B-33D4-5B0D-A57A25B4F4A5}"/>
              </a:ext>
            </a:extLst>
          </p:cNvPr>
          <p:cNvSpPr>
            <a:spLocks noGrp="1"/>
          </p:cNvSpPr>
          <p:nvPr>
            <p:ph type="sldNum" sz="quarter" idx="12"/>
          </p:nvPr>
        </p:nvSpPr>
        <p:spPr/>
        <p:txBody>
          <a:bodyPr/>
          <a:lstStyle/>
          <a:p>
            <a:fld id="{EB60D430-AC4E-1744-A3A3-4A3F499132C5}" type="slidenum">
              <a:rPr lang="en-US" smtClean="0"/>
              <a:t>‹#›</a:t>
            </a:fld>
            <a:endParaRPr lang="en-US"/>
          </a:p>
        </p:txBody>
      </p:sp>
    </p:spTree>
    <p:extLst>
      <p:ext uri="{BB962C8B-B14F-4D97-AF65-F5344CB8AC3E}">
        <p14:creationId xmlns:p14="http://schemas.microsoft.com/office/powerpoint/2010/main" val="3989936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3BE1A-74A1-A08F-199D-68A1C656BF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4891EEE-AC0F-FECA-FDCE-7A284C4A39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9F4327-CE5F-8BEE-FD42-C5961EA2F3BC}"/>
              </a:ext>
            </a:extLst>
          </p:cNvPr>
          <p:cNvSpPr>
            <a:spLocks noGrp="1"/>
          </p:cNvSpPr>
          <p:nvPr>
            <p:ph type="dt" sz="half" idx="10"/>
          </p:nvPr>
        </p:nvSpPr>
        <p:spPr/>
        <p:txBody>
          <a:bodyPr/>
          <a:lstStyle/>
          <a:p>
            <a:fld id="{79C7A70A-BD82-ED43-932F-028872592228}" type="datetimeFigureOut">
              <a:rPr lang="en-US" smtClean="0"/>
              <a:t>10/3/25</a:t>
            </a:fld>
            <a:endParaRPr lang="en-US"/>
          </a:p>
        </p:txBody>
      </p:sp>
      <p:sp>
        <p:nvSpPr>
          <p:cNvPr id="5" name="Footer Placeholder 4">
            <a:extLst>
              <a:ext uri="{FF2B5EF4-FFF2-40B4-BE49-F238E27FC236}">
                <a16:creationId xmlns:a16="http://schemas.microsoft.com/office/drawing/2014/main" id="{20E963A4-C7D4-68B9-33C6-EBF16C4391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6D8D7-CE54-6B4C-A593-4491AF5F3DE6}"/>
              </a:ext>
            </a:extLst>
          </p:cNvPr>
          <p:cNvSpPr>
            <a:spLocks noGrp="1"/>
          </p:cNvSpPr>
          <p:nvPr>
            <p:ph type="sldNum" sz="quarter" idx="12"/>
          </p:nvPr>
        </p:nvSpPr>
        <p:spPr/>
        <p:txBody>
          <a:bodyPr/>
          <a:lstStyle/>
          <a:p>
            <a:fld id="{EB60D430-AC4E-1744-A3A3-4A3F499132C5}" type="slidenum">
              <a:rPr lang="en-US" smtClean="0"/>
              <a:t>‹#›</a:t>
            </a:fld>
            <a:endParaRPr lang="en-US"/>
          </a:p>
        </p:txBody>
      </p:sp>
    </p:spTree>
    <p:extLst>
      <p:ext uri="{BB962C8B-B14F-4D97-AF65-F5344CB8AC3E}">
        <p14:creationId xmlns:p14="http://schemas.microsoft.com/office/powerpoint/2010/main" val="2067974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85BD5-288E-5283-27FB-8179230C0D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4C7D5B-BA60-5663-CA2C-4D0A23A50A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10AFD7-04E1-9D41-433C-A1AC997670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DF164F-B457-CE57-2154-459BBDF785C1}"/>
              </a:ext>
            </a:extLst>
          </p:cNvPr>
          <p:cNvSpPr>
            <a:spLocks noGrp="1"/>
          </p:cNvSpPr>
          <p:nvPr>
            <p:ph type="dt" sz="half" idx="10"/>
          </p:nvPr>
        </p:nvSpPr>
        <p:spPr/>
        <p:txBody>
          <a:bodyPr/>
          <a:lstStyle/>
          <a:p>
            <a:fld id="{79C7A70A-BD82-ED43-932F-028872592228}" type="datetimeFigureOut">
              <a:rPr lang="en-US" smtClean="0"/>
              <a:t>10/3/25</a:t>
            </a:fld>
            <a:endParaRPr lang="en-US"/>
          </a:p>
        </p:txBody>
      </p:sp>
      <p:sp>
        <p:nvSpPr>
          <p:cNvPr id="6" name="Footer Placeholder 5">
            <a:extLst>
              <a:ext uri="{FF2B5EF4-FFF2-40B4-BE49-F238E27FC236}">
                <a16:creationId xmlns:a16="http://schemas.microsoft.com/office/drawing/2014/main" id="{C3AC8502-2EDC-4098-E1A0-D594521510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F228DD-EC0A-31C3-15A0-C2319C05E039}"/>
              </a:ext>
            </a:extLst>
          </p:cNvPr>
          <p:cNvSpPr>
            <a:spLocks noGrp="1"/>
          </p:cNvSpPr>
          <p:nvPr>
            <p:ph type="sldNum" sz="quarter" idx="12"/>
          </p:nvPr>
        </p:nvSpPr>
        <p:spPr/>
        <p:txBody>
          <a:bodyPr/>
          <a:lstStyle/>
          <a:p>
            <a:fld id="{EB60D430-AC4E-1744-A3A3-4A3F499132C5}" type="slidenum">
              <a:rPr lang="en-US" smtClean="0"/>
              <a:t>‹#›</a:t>
            </a:fld>
            <a:endParaRPr lang="en-US"/>
          </a:p>
        </p:txBody>
      </p:sp>
    </p:spTree>
    <p:extLst>
      <p:ext uri="{BB962C8B-B14F-4D97-AF65-F5344CB8AC3E}">
        <p14:creationId xmlns:p14="http://schemas.microsoft.com/office/powerpoint/2010/main" val="3649707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B05CB-FF95-B979-3816-F816654114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9419FB-DC05-D447-5D59-72866DC203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788A19-981E-679A-F222-9E3B326967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93C6CF1-CA2D-C80D-F989-18D7F348C2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7FA8F8-2623-813A-18DD-1CDF8A99AC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F0A53F-A2B1-991F-EF3C-3422C4EDE68C}"/>
              </a:ext>
            </a:extLst>
          </p:cNvPr>
          <p:cNvSpPr>
            <a:spLocks noGrp="1"/>
          </p:cNvSpPr>
          <p:nvPr>
            <p:ph type="dt" sz="half" idx="10"/>
          </p:nvPr>
        </p:nvSpPr>
        <p:spPr/>
        <p:txBody>
          <a:bodyPr/>
          <a:lstStyle/>
          <a:p>
            <a:fld id="{79C7A70A-BD82-ED43-932F-028872592228}" type="datetimeFigureOut">
              <a:rPr lang="en-US" smtClean="0"/>
              <a:t>10/3/25</a:t>
            </a:fld>
            <a:endParaRPr lang="en-US"/>
          </a:p>
        </p:txBody>
      </p:sp>
      <p:sp>
        <p:nvSpPr>
          <p:cNvPr id="8" name="Footer Placeholder 7">
            <a:extLst>
              <a:ext uri="{FF2B5EF4-FFF2-40B4-BE49-F238E27FC236}">
                <a16:creationId xmlns:a16="http://schemas.microsoft.com/office/drawing/2014/main" id="{A5854AD9-4B7D-9780-427C-B6F8DFEAE7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8E649D-C05B-4967-56A2-29ADD2A47BD6}"/>
              </a:ext>
            </a:extLst>
          </p:cNvPr>
          <p:cNvSpPr>
            <a:spLocks noGrp="1"/>
          </p:cNvSpPr>
          <p:nvPr>
            <p:ph type="sldNum" sz="quarter" idx="12"/>
          </p:nvPr>
        </p:nvSpPr>
        <p:spPr/>
        <p:txBody>
          <a:bodyPr/>
          <a:lstStyle/>
          <a:p>
            <a:fld id="{EB60D430-AC4E-1744-A3A3-4A3F499132C5}" type="slidenum">
              <a:rPr lang="en-US" smtClean="0"/>
              <a:t>‹#›</a:t>
            </a:fld>
            <a:endParaRPr lang="en-US"/>
          </a:p>
        </p:txBody>
      </p:sp>
    </p:spTree>
    <p:extLst>
      <p:ext uri="{BB962C8B-B14F-4D97-AF65-F5344CB8AC3E}">
        <p14:creationId xmlns:p14="http://schemas.microsoft.com/office/powerpoint/2010/main" val="3721175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1E493-3F69-D860-E6D7-9ECDB3EDAB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B1EB50-D83B-80B2-93D1-5DC6B5AA6F88}"/>
              </a:ext>
            </a:extLst>
          </p:cNvPr>
          <p:cNvSpPr>
            <a:spLocks noGrp="1"/>
          </p:cNvSpPr>
          <p:nvPr>
            <p:ph type="dt" sz="half" idx="10"/>
          </p:nvPr>
        </p:nvSpPr>
        <p:spPr/>
        <p:txBody>
          <a:bodyPr/>
          <a:lstStyle/>
          <a:p>
            <a:fld id="{79C7A70A-BD82-ED43-932F-028872592228}" type="datetimeFigureOut">
              <a:rPr lang="en-US" smtClean="0"/>
              <a:t>10/3/25</a:t>
            </a:fld>
            <a:endParaRPr lang="en-US"/>
          </a:p>
        </p:txBody>
      </p:sp>
      <p:sp>
        <p:nvSpPr>
          <p:cNvPr id="4" name="Footer Placeholder 3">
            <a:extLst>
              <a:ext uri="{FF2B5EF4-FFF2-40B4-BE49-F238E27FC236}">
                <a16:creationId xmlns:a16="http://schemas.microsoft.com/office/drawing/2014/main" id="{B736565F-2928-8B89-582F-1A089AE14B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0FF4F5-08C6-0974-7FD9-D03659CD6A96}"/>
              </a:ext>
            </a:extLst>
          </p:cNvPr>
          <p:cNvSpPr>
            <a:spLocks noGrp="1"/>
          </p:cNvSpPr>
          <p:nvPr>
            <p:ph type="sldNum" sz="quarter" idx="12"/>
          </p:nvPr>
        </p:nvSpPr>
        <p:spPr/>
        <p:txBody>
          <a:bodyPr/>
          <a:lstStyle/>
          <a:p>
            <a:fld id="{EB60D430-AC4E-1744-A3A3-4A3F499132C5}" type="slidenum">
              <a:rPr lang="en-US" smtClean="0"/>
              <a:t>‹#›</a:t>
            </a:fld>
            <a:endParaRPr lang="en-US"/>
          </a:p>
        </p:txBody>
      </p:sp>
    </p:spTree>
    <p:extLst>
      <p:ext uri="{BB962C8B-B14F-4D97-AF65-F5344CB8AC3E}">
        <p14:creationId xmlns:p14="http://schemas.microsoft.com/office/powerpoint/2010/main" val="3875886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E1D9E6-C33F-A960-157E-10166F9F2031}"/>
              </a:ext>
            </a:extLst>
          </p:cNvPr>
          <p:cNvSpPr>
            <a:spLocks noGrp="1"/>
          </p:cNvSpPr>
          <p:nvPr>
            <p:ph type="dt" sz="half" idx="10"/>
          </p:nvPr>
        </p:nvSpPr>
        <p:spPr/>
        <p:txBody>
          <a:bodyPr/>
          <a:lstStyle/>
          <a:p>
            <a:fld id="{79C7A70A-BD82-ED43-932F-028872592228}" type="datetimeFigureOut">
              <a:rPr lang="en-US" smtClean="0"/>
              <a:t>10/3/25</a:t>
            </a:fld>
            <a:endParaRPr lang="en-US"/>
          </a:p>
        </p:txBody>
      </p:sp>
      <p:sp>
        <p:nvSpPr>
          <p:cNvPr id="3" name="Footer Placeholder 2">
            <a:extLst>
              <a:ext uri="{FF2B5EF4-FFF2-40B4-BE49-F238E27FC236}">
                <a16:creationId xmlns:a16="http://schemas.microsoft.com/office/drawing/2014/main" id="{FCD43652-8D27-92A0-294A-D5E8F37747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0E9CD9-B4E4-3418-F77F-2434EC772C08}"/>
              </a:ext>
            </a:extLst>
          </p:cNvPr>
          <p:cNvSpPr>
            <a:spLocks noGrp="1"/>
          </p:cNvSpPr>
          <p:nvPr>
            <p:ph type="sldNum" sz="quarter" idx="12"/>
          </p:nvPr>
        </p:nvSpPr>
        <p:spPr/>
        <p:txBody>
          <a:bodyPr/>
          <a:lstStyle/>
          <a:p>
            <a:fld id="{EB60D430-AC4E-1744-A3A3-4A3F499132C5}" type="slidenum">
              <a:rPr lang="en-US" smtClean="0"/>
              <a:t>‹#›</a:t>
            </a:fld>
            <a:endParaRPr lang="en-US"/>
          </a:p>
        </p:txBody>
      </p:sp>
    </p:spTree>
    <p:extLst>
      <p:ext uri="{BB962C8B-B14F-4D97-AF65-F5344CB8AC3E}">
        <p14:creationId xmlns:p14="http://schemas.microsoft.com/office/powerpoint/2010/main" val="1272003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F26AD-43EC-AE42-5D41-9FAFF0B241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B14FE4-9974-A24E-8A78-B27205F2F4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4BB8CE-39F8-AA72-3C02-D461A84524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7240E0-B993-697F-B78E-A81155E8CC26}"/>
              </a:ext>
            </a:extLst>
          </p:cNvPr>
          <p:cNvSpPr>
            <a:spLocks noGrp="1"/>
          </p:cNvSpPr>
          <p:nvPr>
            <p:ph type="dt" sz="half" idx="10"/>
          </p:nvPr>
        </p:nvSpPr>
        <p:spPr/>
        <p:txBody>
          <a:bodyPr/>
          <a:lstStyle/>
          <a:p>
            <a:fld id="{79C7A70A-BD82-ED43-932F-028872592228}" type="datetimeFigureOut">
              <a:rPr lang="en-US" smtClean="0"/>
              <a:t>10/3/25</a:t>
            </a:fld>
            <a:endParaRPr lang="en-US"/>
          </a:p>
        </p:txBody>
      </p:sp>
      <p:sp>
        <p:nvSpPr>
          <p:cNvPr id="6" name="Footer Placeholder 5">
            <a:extLst>
              <a:ext uri="{FF2B5EF4-FFF2-40B4-BE49-F238E27FC236}">
                <a16:creationId xmlns:a16="http://schemas.microsoft.com/office/drawing/2014/main" id="{50AAD152-945A-1150-A03E-6AC124A765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8431A7-049F-48C1-6115-5E3997FFE5DD}"/>
              </a:ext>
            </a:extLst>
          </p:cNvPr>
          <p:cNvSpPr>
            <a:spLocks noGrp="1"/>
          </p:cNvSpPr>
          <p:nvPr>
            <p:ph type="sldNum" sz="quarter" idx="12"/>
          </p:nvPr>
        </p:nvSpPr>
        <p:spPr/>
        <p:txBody>
          <a:bodyPr/>
          <a:lstStyle/>
          <a:p>
            <a:fld id="{EB60D430-AC4E-1744-A3A3-4A3F499132C5}" type="slidenum">
              <a:rPr lang="en-US" smtClean="0"/>
              <a:t>‹#›</a:t>
            </a:fld>
            <a:endParaRPr lang="en-US"/>
          </a:p>
        </p:txBody>
      </p:sp>
    </p:spTree>
    <p:extLst>
      <p:ext uri="{BB962C8B-B14F-4D97-AF65-F5344CB8AC3E}">
        <p14:creationId xmlns:p14="http://schemas.microsoft.com/office/powerpoint/2010/main" val="634445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662CA-3BF2-D99E-DB26-7E3D7FA572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C23461-4E71-E7F9-24DB-DE3C23A15E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B99F95D-9D2F-9DD4-2A9F-5EFB971381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9C2AEC-3C94-8242-78FA-75EC541D935E}"/>
              </a:ext>
            </a:extLst>
          </p:cNvPr>
          <p:cNvSpPr>
            <a:spLocks noGrp="1"/>
          </p:cNvSpPr>
          <p:nvPr>
            <p:ph type="dt" sz="half" idx="10"/>
          </p:nvPr>
        </p:nvSpPr>
        <p:spPr/>
        <p:txBody>
          <a:bodyPr/>
          <a:lstStyle/>
          <a:p>
            <a:fld id="{79C7A70A-BD82-ED43-932F-028872592228}" type="datetimeFigureOut">
              <a:rPr lang="en-US" smtClean="0"/>
              <a:t>10/3/25</a:t>
            </a:fld>
            <a:endParaRPr lang="en-US"/>
          </a:p>
        </p:txBody>
      </p:sp>
      <p:sp>
        <p:nvSpPr>
          <p:cNvPr id="6" name="Footer Placeholder 5">
            <a:extLst>
              <a:ext uri="{FF2B5EF4-FFF2-40B4-BE49-F238E27FC236}">
                <a16:creationId xmlns:a16="http://schemas.microsoft.com/office/drawing/2014/main" id="{BC89EC4F-A2C6-40D3-277E-FD9E5F39C1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63EC29-C6AD-452F-9FF0-9BC10F6FAB06}"/>
              </a:ext>
            </a:extLst>
          </p:cNvPr>
          <p:cNvSpPr>
            <a:spLocks noGrp="1"/>
          </p:cNvSpPr>
          <p:nvPr>
            <p:ph type="sldNum" sz="quarter" idx="12"/>
          </p:nvPr>
        </p:nvSpPr>
        <p:spPr/>
        <p:txBody>
          <a:bodyPr/>
          <a:lstStyle/>
          <a:p>
            <a:fld id="{EB60D430-AC4E-1744-A3A3-4A3F499132C5}" type="slidenum">
              <a:rPr lang="en-US" smtClean="0"/>
              <a:t>‹#›</a:t>
            </a:fld>
            <a:endParaRPr lang="en-US"/>
          </a:p>
        </p:txBody>
      </p:sp>
    </p:spTree>
    <p:extLst>
      <p:ext uri="{BB962C8B-B14F-4D97-AF65-F5344CB8AC3E}">
        <p14:creationId xmlns:p14="http://schemas.microsoft.com/office/powerpoint/2010/main" val="288683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69D20-C682-7DFF-1E38-6825F0F49B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0E60BD-E8EE-9E50-7821-7A7EF629B9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BF22BF-FB69-8158-32B5-E94576DC6921}"/>
              </a:ext>
            </a:extLst>
          </p:cNvPr>
          <p:cNvSpPr>
            <a:spLocks noGrp="1"/>
          </p:cNvSpPr>
          <p:nvPr>
            <p:ph type="dt" sz="half" idx="10"/>
          </p:nvPr>
        </p:nvSpPr>
        <p:spPr/>
        <p:txBody>
          <a:bodyPr/>
          <a:lstStyle/>
          <a:p>
            <a:fld id="{79C7A70A-BD82-ED43-932F-028872592228}" type="datetimeFigureOut">
              <a:rPr lang="en-US" smtClean="0"/>
              <a:t>10/3/25</a:t>
            </a:fld>
            <a:endParaRPr lang="en-US"/>
          </a:p>
        </p:txBody>
      </p:sp>
      <p:sp>
        <p:nvSpPr>
          <p:cNvPr id="5" name="Footer Placeholder 4">
            <a:extLst>
              <a:ext uri="{FF2B5EF4-FFF2-40B4-BE49-F238E27FC236}">
                <a16:creationId xmlns:a16="http://schemas.microsoft.com/office/drawing/2014/main" id="{65441A1F-2637-A54F-5B40-448BC5D13F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465BE2-A86C-347F-6450-3009F8164BA7}"/>
              </a:ext>
            </a:extLst>
          </p:cNvPr>
          <p:cNvSpPr>
            <a:spLocks noGrp="1"/>
          </p:cNvSpPr>
          <p:nvPr>
            <p:ph type="sldNum" sz="quarter" idx="12"/>
          </p:nvPr>
        </p:nvSpPr>
        <p:spPr/>
        <p:txBody>
          <a:bodyPr/>
          <a:lstStyle/>
          <a:p>
            <a:fld id="{EB60D430-AC4E-1744-A3A3-4A3F499132C5}" type="slidenum">
              <a:rPr lang="en-US" smtClean="0"/>
              <a:t>‹#›</a:t>
            </a:fld>
            <a:endParaRPr lang="en-US"/>
          </a:p>
        </p:txBody>
      </p:sp>
    </p:spTree>
    <p:extLst>
      <p:ext uri="{BB962C8B-B14F-4D97-AF65-F5344CB8AC3E}">
        <p14:creationId xmlns:p14="http://schemas.microsoft.com/office/powerpoint/2010/main" val="1328124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9916F0-2A56-9C73-553C-FA63269FE89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F1C1AB8-15B7-3FAC-C4B5-F56E9194F4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D9A3BD-7D7A-7253-FA8C-891988016DCC}"/>
              </a:ext>
            </a:extLst>
          </p:cNvPr>
          <p:cNvSpPr>
            <a:spLocks noGrp="1"/>
          </p:cNvSpPr>
          <p:nvPr>
            <p:ph type="dt" sz="half" idx="10"/>
          </p:nvPr>
        </p:nvSpPr>
        <p:spPr/>
        <p:txBody>
          <a:bodyPr/>
          <a:lstStyle/>
          <a:p>
            <a:fld id="{79C7A70A-BD82-ED43-932F-028872592228}" type="datetimeFigureOut">
              <a:rPr lang="en-US" smtClean="0"/>
              <a:t>10/3/25</a:t>
            </a:fld>
            <a:endParaRPr lang="en-US"/>
          </a:p>
        </p:txBody>
      </p:sp>
      <p:sp>
        <p:nvSpPr>
          <p:cNvPr id="5" name="Footer Placeholder 4">
            <a:extLst>
              <a:ext uri="{FF2B5EF4-FFF2-40B4-BE49-F238E27FC236}">
                <a16:creationId xmlns:a16="http://schemas.microsoft.com/office/drawing/2014/main" id="{A53B5B97-08E0-F8E8-DA3E-5CAF5A1970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C17293-50BF-D355-2939-56E1C1D53790}"/>
              </a:ext>
            </a:extLst>
          </p:cNvPr>
          <p:cNvSpPr>
            <a:spLocks noGrp="1"/>
          </p:cNvSpPr>
          <p:nvPr>
            <p:ph type="sldNum" sz="quarter" idx="12"/>
          </p:nvPr>
        </p:nvSpPr>
        <p:spPr/>
        <p:txBody>
          <a:bodyPr/>
          <a:lstStyle/>
          <a:p>
            <a:fld id="{EB60D430-AC4E-1744-A3A3-4A3F499132C5}" type="slidenum">
              <a:rPr lang="en-US" smtClean="0"/>
              <a:t>‹#›</a:t>
            </a:fld>
            <a:endParaRPr lang="en-US"/>
          </a:p>
        </p:txBody>
      </p:sp>
    </p:spTree>
    <p:extLst>
      <p:ext uri="{BB962C8B-B14F-4D97-AF65-F5344CB8AC3E}">
        <p14:creationId xmlns:p14="http://schemas.microsoft.com/office/powerpoint/2010/main" val="4077876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89C1B1-85E4-99DB-9D82-BFE3FC6046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B27962-017E-104E-475A-3225A7ED57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BBF281-285F-EE0A-B671-C3560CA5FF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C7A70A-BD82-ED43-932F-028872592228}" type="datetimeFigureOut">
              <a:rPr lang="en-US" smtClean="0"/>
              <a:t>10/3/25</a:t>
            </a:fld>
            <a:endParaRPr lang="en-US"/>
          </a:p>
        </p:txBody>
      </p:sp>
      <p:sp>
        <p:nvSpPr>
          <p:cNvPr id="5" name="Footer Placeholder 4">
            <a:extLst>
              <a:ext uri="{FF2B5EF4-FFF2-40B4-BE49-F238E27FC236}">
                <a16:creationId xmlns:a16="http://schemas.microsoft.com/office/drawing/2014/main" id="{D1178235-05EC-FDFF-31EE-52BBE446E0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AEECD26-F4D7-4BBE-E3FE-8E9B2AF844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60D430-AC4E-1744-A3A3-4A3F499132C5}" type="slidenum">
              <a:rPr lang="en-US" smtClean="0"/>
              <a:t>‹#›</a:t>
            </a:fld>
            <a:endParaRPr lang="en-US"/>
          </a:p>
        </p:txBody>
      </p:sp>
    </p:spTree>
    <p:extLst>
      <p:ext uri="{BB962C8B-B14F-4D97-AF65-F5344CB8AC3E}">
        <p14:creationId xmlns:p14="http://schemas.microsoft.com/office/powerpoint/2010/main" val="881087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hyperlink" Target="https://ieeexplore.ieee.org/author/37429767900" TargetMode="External"/><Relationship Id="rId2" Type="http://schemas.openxmlformats.org/officeDocument/2006/relationships/hyperlink" Target="https://ieeexplore.ieee.org/author/37088583643" TargetMode="External"/><Relationship Id="rId1" Type="http://schemas.openxmlformats.org/officeDocument/2006/relationships/slideLayout" Target="../slideLayouts/slideLayout1.xml"/><Relationship Id="rId6" Type="http://schemas.openxmlformats.org/officeDocument/2006/relationships/hyperlink" Target="https://journals.sagepub.com/doi/abs/10.2307/1511058#con3" TargetMode="External"/><Relationship Id="rId5" Type="http://schemas.openxmlformats.org/officeDocument/2006/relationships/hyperlink" Target="https://journals.sagepub.com/doi/abs/10.2307/1511058#con2" TargetMode="External"/><Relationship Id="rId4" Type="http://schemas.openxmlformats.org/officeDocument/2006/relationships/hyperlink" Target="https://journals.sagepub.com/doi/abs/10.2307/1511058#con1"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ieeexplore.ieee.org/author/37086073914" TargetMode="External"/><Relationship Id="rId2" Type="http://schemas.openxmlformats.org/officeDocument/2006/relationships/hyperlink" Target="https://ieeexplore.ieee.org/author/37086118870"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DBF1B0-B20D-28E5-58C9-922B92DBFB23}"/>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ED83A85D-2479-8650-5BF1-05BC73FC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A112EB78-A6C2-C585-CDF5-162CCA280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9ADA942B-8494-BB57-75ED-57D5C0F2C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559294"/>
            <a:ext cx="12191999"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A9D84E60-E535-E7CF-9910-3127F36E7F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869AF9CE-ACA2-1CBD-7679-119EB10A1BC6}"/>
              </a:ext>
            </a:extLst>
          </p:cNvPr>
          <p:cNvSpPr txBox="1"/>
          <p:nvPr/>
        </p:nvSpPr>
        <p:spPr>
          <a:xfrm>
            <a:off x="1236576" y="1284769"/>
            <a:ext cx="9947305" cy="1090657"/>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400" b="1" dirty="0" err="1">
                <a:solidFill>
                  <a:srgbClr val="FFFFFF"/>
                </a:solidFill>
              </a:rPr>
              <a:t>MoodMatrix</a:t>
            </a:r>
            <a:r>
              <a:rPr lang="en-US" sz="3400" b="1" dirty="0">
                <a:solidFill>
                  <a:srgbClr val="FFFFFF"/>
                </a:solidFill>
              </a:rPr>
              <a:t> : </a:t>
            </a:r>
            <a:r>
              <a:rPr lang="en-US" sz="3400" dirty="0">
                <a:solidFill>
                  <a:srgbClr val="FFFFFF"/>
                </a:solidFill>
              </a:rPr>
              <a:t>AI-Powered Study Companion</a:t>
            </a:r>
          </a:p>
        </p:txBody>
      </p:sp>
      <p:sp>
        <p:nvSpPr>
          <p:cNvPr id="1039" name="Freeform: Shape 1038">
            <a:extLst>
              <a:ext uri="{FF2B5EF4-FFF2-40B4-BE49-F238E27FC236}">
                <a16:creationId xmlns:a16="http://schemas.microsoft.com/office/drawing/2014/main" id="{76A1076A-E99D-6E99-0BE8-C32C048F0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Leveraging AI and ML in Engineering: Transforming Industries">
            <a:extLst>
              <a:ext uri="{FF2B5EF4-FFF2-40B4-BE49-F238E27FC236}">
                <a16:creationId xmlns:a16="http://schemas.microsoft.com/office/drawing/2014/main" id="{9467C4CE-950C-0FF5-868E-C36A540A11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6831" b="1"/>
          <a:stretch>
            <a:fillRect/>
          </a:stretch>
        </p:blipFill>
        <p:spPr bwMode="auto">
          <a:xfrm>
            <a:off x="2018726" y="3200401"/>
            <a:ext cx="7844134" cy="3657600"/>
          </a:xfrm>
          <a:custGeom>
            <a:avLst/>
            <a:gdLst/>
            <a:ahLst/>
            <a:cxnLst/>
            <a:rect l="l" t="t" r="r" b="b"/>
            <a:pathLst>
              <a:path w="7519558" h="3506255">
                <a:moveTo>
                  <a:pt x="3759779" y="0"/>
                </a:moveTo>
                <a:cubicBezTo>
                  <a:pt x="5713450" y="0"/>
                  <a:pt x="7320331" y="1484777"/>
                  <a:pt x="7513560" y="3387468"/>
                </a:cubicBezTo>
                <a:lnTo>
                  <a:pt x="7519558" y="3506255"/>
                </a:lnTo>
                <a:lnTo>
                  <a:pt x="0" y="3506255"/>
                </a:lnTo>
                <a:lnTo>
                  <a:pt x="5998" y="3387468"/>
                </a:lnTo>
                <a:cubicBezTo>
                  <a:pt x="199227" y="1484777"/>
                  <a:pt x="1806109" y="0"/>
                  <a:pt x="3759779"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0764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E141C8-0596-577A-DD1D-C007EB357693}"/>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EDC06687-A207-BA4D-F518-8C964A69AD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75197F97-8FDD-7A46-9B05-9A098D17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A9DDBEAB-307D-3386-9069-2A7ED1636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559294"/>
            <a:ext cx="12191999"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AE6E210D-44BC-E168-58DA-E9F7B933F4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BAE0EDE0-B51B-9029-3129-22FC25C4EF73}"/>
              </a:ext>
            </a:extLst>
          </p:cNvPr>
          <p:cNvSpPr txBox="1"/>
          <p:nvPr/>
        </p:nvSpPr>
        <p:spPr>
          <a:xfrm>
            <a:off x="1122343" y="0"/>
            <a:ext cx="9947305" cy="1090657"/>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300" b="1" dirty="0" err="1">
                <a:solidFill>
                  <a:srgbClr val="FFFFFF"/>
                </a:solidFill>
                <a:latin typeface="+mj-lt"/>
                <a:ea typeface="+mj-ea"/>
                <a:cs typeface="+mj-cs"/>
              </a:rPr>
              <a:t>MoodMatrix</a:t>
            </a:r>
            <a:r>
              <a:rPr lang="en-US" sz="3300" b="1" dirty="0">
                <a:solidFill>
                  <a:srgbClr val="FFFFFF"/>
                </a:solidFill>
                <a:latin typeface="+mj-lt"/>
                <a:ea typeface="+mj-ea"/>
                <a:cs typeface="+mj-cs"/>
              </a:rPr>
              <a:t> : </a:t>
            </a:r>
            <a:r>
              <a:rPr lang="en-US" sz="3300" dirty="0">
                <a:solidFill>
                  <a:srgbClr val="FFFFFF"/>
                </a:solidFill>
                <a:latin typeface="+mj-lt"/>
                <a:ea typeface="+mj-ea"/>
                <a:cs typeface="+mj-cs"/>
              </a:rPr>
              <a:t>AI-Powered Study Companion</a:t>
            </a:r>
          </a:p>
        </p:txBody>
      </p:sp>
      <p:sp>
        <p:nvSpPr>
          <p:cNvPr id="1039" name="Freeform: Shape 1038">
            <a:extLst>
              <a:ext uri="{FF2B5EF4-FFF2-40B4-BE49-F238E27FC236}">
                <a16:creationId xmlns:a16="http://schemas.microsoft.com/office/drawing/2014/main" id="{CBA45E2A-265F-BA68-2AB5-2D0ACA25A3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Rectangle 5">
            <a:extLst>
              <a:ext uri="{FF2B5EF4-FFF2-40B4-BE49-F238E27FC236}">
                <a16:creationId xmlns:a16="http://schemas.microsoft.com/office/drawing/2014/main" id="{0BBCEC83-7483-35A4-D995-21AE96C3C6B8}"/>
              </a:ext>
            </a:extLst>
          </p:cNvPr>
          <p:cNvSpPr/>
          <p:nvPr/>
        </p:nvSpPr>
        <p:spPr>
          <a:xfrm>
            <a:off x="1849751" y="477424"/>
            <a:ext cx="8492490" cy="628443"/>
          </a:xfrm>
          <a:prstGeom prst="rect">
            <a:avLst/>
          </a:prstGeom>
          <a:noFill/>
          <a:ln>
            <a:solidFill>
              <a:schemeClr val="tx2">
                <a:lumMod val="10000"/>
                <a:lumOff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F2DB8367-272D-768F-7EFC-A719BC8A2A06}"/>
              </a:ext>
            </a:extLst>
          </p:cNvPr>
          <p:cNvSpPr txBox="1"/>
          <p:nvPr/>
        </p:nvSpPr>
        <p:spPr>
          <a:xfrm>
            <a:off x="481399" y="1867712"/>
            <a:ext cx="5519352" cy="4356770"/>
          </a:xfrm>
          <a:prstGeom prst="rect">
            <a:avLst/>
          </a:prstGeom>
          <a:noFill/>
        </p:spPr>
        <p:txBody>
          <a:bodyPr wrap="square" rtlCol="0">
            <a:spAutoFit/>
          </a:bodyPr>
          <a:lstStyle/>
          <a:p>
            <a:r>
              <a:rPr lang="en-US" sz="2000" b="1" dirty="0">
                <a:solidFill>
                  <a:schemeClr val="bg1"/>
                </a:solidFill>
              </a:rPr>
              <a:t>Problem Statement : </a:t>
            </a:r>
            <a:endParaRPr lang="en-US" sz="2000" dirty="0">
              <a:solidFill>
                <a:schemeClr val="bg1"/>
              </a:solidFill>
            </a:endParaRPr>
          </a:p>
          <a:p>
            <a:pPr algn="just"/>
            <a:br>
              <a:rPr lang="en-US" sz="2000" dirty="0">
                <a:solidFill>
                  <a:schemeClr val="bg1"/>
                </a:solidFill>
              </a:rPr>
            </a:br>
            <a:r>
              <a:rPr lang="en-US" sz="2000" dirty="0">
                <a:solidFill>
                  <a:schemeClr val="bg1"/>
                </a:solidFill>
              </a:rPr>
              <a:t>In large classrooms (schools, colleges, coaching's, etc.), teacher often lack </a:t>
            </a:r>
            <a:r>
              <a:rPr lang="en-US" sz="2000" b="1" dirty="0">
                <a:solidFill>
                  <a:schemeClr val="bg1"/>
                </a:solidFill>
              </a:rPr>
              <a:t>real-time visibility into students’ engagement, their attention level, and emotional states</a:t>
            </a:r>
            <a:r>
              <a:rPr lang="en-US" sz="2000" dirty="0">
                <a:solidFill>
                  <a:schemeClr val="bg1"/>
                </a:solidFill>
              </a:rPr>
              <a:t>, which makes it difficult to adapt teaching methods dynamically. Traditional observation methods are subjective, time-consuming, and impractical for monitoring every student simultaneously, especially in classes with 60+ students.</a:t>
            </a:r>
          </a:p>
          <a:p>
            <a:pPr>
              <a:lnSpc>
                <a:spcPct val="150000"/>
              </a:lnSpc>
            </a:pPr>
            <a:br>
              <a:rPr lang="en-US" sz="2000" dirty="0">
                <a:solidFill>
                  <a:schemeClr val="bg1"/>
                </a:solidFill>
              </a:rPr>
            </a:br>
            <a:endParaRPr lang="en-US" sz="2000" dirty="0">
              <a:solidFill>
                <a:schemeClr val="bg1"/>
              </a:solidFill>
            </a:endParaRPr>
          </a:p>
        </p:txBody>
      </p:sp>
      <p:pic>
        <p:nvPicPr>
          <p:cNvPr id="1026" name="Picture 2" descr="Indian Teacher Teaching Classroom: Over 484 Royalty-Free Licensable Stock  Illustrations &amp; Drawings | Shutterstock">
            <a:extLst>
              <a:ext uri="{FF2B5EF4-FFF2-40B4-BE49-F238E27FC236}">
                <a16:creationId xmlns:a16="http://schemas.microsoft.com/office/drawing/2014/main" id="{4874A008-FCC6-9968-F8A6-B52F7F0DF5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928"/>
          <a:stretch>
            <a:fillRect/>
          </a:stretch>
        </p:blipFill>
        <p:spPr bwMode="auto">
          <a:xfrm>
            <a:off x="6394449" y="1773762"/>
            <a:ext cx="5499100" cy="3309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9692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208CB7-5B2B-E8ED-E327-A9CF137595AD}"/>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0D89A11-C3CA-B928-5A79-54BDD22D6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37E42D41-6A4D-D004-DCEC-34076AAB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E914F002-B070-102B-9D5C-ACF345EA04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559294"/>
            <a:ext cx="12191999"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A96B4BDC-C8EF-362E-C9D9-F214DE7B0C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A89A33F5-B0B6-DF67-A6BE-78B071C65661}"/>
              </a:ext>
            </a:extLst>
          </p:cNvPr>
          <p:cNvSpPr txBox="1"/>
          <p:nvPr/>
        </p:nvSpPr>
        <p:spPr>
          <a:xfrm>
            <a:off x="1122343" y="0"/>
            <a:ext cx="9947305" cy="1090657"/>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300" b="1" dirty="0" err="1">
                <a:solidFill>
                  <a:srgbClr val="FFFFFF"/>
                </a:solidFill>
                <a:latin typeface="+mj-lt"/>
                <a:ea typeface="+mj-ea"/>
                <a:cs typeface="+mj-cs"/>
              </a:rPr>
              <a:t>MoodMatrix</a:t>
            </a:r>
            <a:r>
              <a:rPr lang="en-US" sz="3300" b="1" dirty="0">
                <a:solidFill>
                  <a:srgbClr val="FFFFFF"/>
                </a:solidFill>
                <a:latin typeface="+mj-lt"/>
                <a:ea typeface="+mj-ea"/>
                <a:cs typeface="+mj-cs"/>
              </a:rPr>
              <a:t> : </a:t>
            </a:r>
            <a:r>
              <a:rPr lang="en-US" sz="3300" dirty="0">
                <a:solidFill>
                  <a:srgbClr val="FFFFFF"/>
                </a:solidFill>
                <a:latin typeface="+mj-lt"/>
                <a:ea typeface="+mj-ea"/>
                <a:cs typeface="+mj-cs"/>
              </a:rPr>
              <a:t>AI-Powered Study Companion</a:t>
            </a:r>
          </a:p>
        </p:txBody>
      </p:sp>
      <p:sp>
        <p:nvSpPr>
          <p:cNvPr id="1039" name="Freeform: Shape 1038">
            <a:extLst>
              <a:ext uri="{FF2B5EF4-FFF2-40B4-BE49-F238E27FC236}">
                <a16:creationId xmlns:a16="http://schemas.microsoft.com/office/drawing/2014/main" id="{C2AF7D01-58B8-EE85-B577-3A202346E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Rectangle 5">
            <a:extLst>
              <a:ext uri="{FF2B5EF4-FFF2-40B4-BE49-F238E27FC236}">
                <a16:creationId xmlns:a16="http://schemas.microsoft.com/office/drawing/2014/main" id="{F92DA923-A75E-1158-DCD3-718F5B020C7D}"/>
              </a:ext>
            </a:extLst>
          </p:cNvPr>
          <p:cNvSpPr/>
          <p:nvPr/>
        </p:nvSpPr>
        <p:spPr>
          <a:xfrm>
            <a:off x="1849751" y="477424"/>
            <a:ext cx="8492490" cy="628443"/>
          </a:xfrm>
          <a:prstGeom prst="rect">
            <a:avLst/>
          </a:prstGeom>
          <a:noFill/>
          <a:ln>
            <a:solidFill>
              <a:schemeClr val="tx2">
                <a:lumMod val="10000"/>
                <a:lumOff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C48463F9-281F-F678-5462-E8E6E0FDFAD1}"/>
              </a:ext>
            </a:extLst>
          </p:cNvPr>
          <p:cNvSpPr txBox="1"/>
          <p:nvPr/>
        </p:nvSpPr>
        <p:spPr>
          <a:xfrm>
            <a:off x="339736" y="1617194"/>
            <a:ext cx="5571961" cy="4664547"/>
          </a:xfrm>
          <a:prstGeom prst="rect">
            <a:avLst/>
          </a:prstGeom>
          <a:noFill/>
        </p:spPr>
        <p:txBody>
          <a:bodyPr wrap="square" rtlCol="0">
            <a:spAutoFit/>
          </a:bodyPr>
          <a:lstStyle/>
          <a:p>
            <a:pPr algn="just">
              <a:lnSpc>
                <a:spcPct val="150000"/>
              </a:lnSpc>
            </a:pPr>
            <a:r>
              <a:rPr lang="en-US" sz="2000" dirty="0">
                <a:solidFill>
                  <a:schemeClr val="bg1"/>
                </a:solidFill>
              </a:rPr>
              <a:t>There is a need for a </a:t>
            </a:r>
            <a:r>
              <a:rPr lang="en-US" sz="2000" b="1" dirty="0">
                <a:solidFill>
                  <a:schemeClr val="bg1"/>
                </a:solidFill>
              </a:rPr>
              <a:t>scalable system</a:t>
            </a:r>
            <a:r>
              <a:rPr lang="en-US" sz="2000" dirty="0">
                <a:solidFill>
                  <a:schemeClr val="bg1"/>
                </a:solidFill>
              </a:rPr>
              <a:t> that can:</a:t>
            </a:r>
          </a:p>
          <a:p>
            <a:pPr algn="just">
              <a:lnSpc>
                <a:spcPct val="150000"/>
              </a:lnSpc>
            </a:pPr>
            <a:endParaRPr lang="en-US" sz="2000" dirty="0">
              <a:solidFill>
                <a:schemeClr val="bg1"/>
              </a:solidFill>
            </a:endParaRPr>
          </a:p>
          <a:p>
            <a:pPr marL="342900" indent="-342900" algn="just">
              <a:lnSpc>
                <a:spcPct val="150000"/>
              </a:lnSpc>
              <a:buFont typeface="Arial" panose="020B0604020202020204" pitchFamily="34" charset="0"/>
              <a:buChar char="•"/>
            </a:pPr>
            <a:r>
              <a:rPr lang="en-US" sz="2000" dirty="0">
                <a:solidFill>
                  <a:schemeClr val="bg1"/>
                </a:solidFill>
              </a:rPr>
              <a:t>Detect and track students’ expressions, posture, and attention in real time.</a:t>
            </a:r>
          </a:p>
          <a:p>
            <a:pPr marL="342900" indent="-342900" algn="just">
              <a:lnSpc>
                <a:spcPct val="150000"/>
              </a:lnSpc>
              <a:buFont typeface="Arial" panose="020B0604020202020204" pitchFamily="34" charset="0"/>
              <a:buChar char="•"/>
            </a:pPr>
            <a:r>
              <a:rPr lang="en-US" sz="2000" dirty="0">
                <a:solidFill>
                  <a:schemeClr val="bg1"/>
                </a:solidFill>
              </a:rPr>
              <a:t>Aggregate signals into group metrics (e.g., % attentive, emotions, heatmaps).</a:t>
            </a:r>
          </a:p>
          <a:p>
            <a:pPr marL="342900" indent="-342900" algn="just">
              <a:lnSpc>
                <a:spcPct val="150000"/>
              </a:lnSpc>
              <a:buFont typeface="Arial" panose="020B0604020202020204" pitchFamily="34" charset="0"/>
              <a:buChar char="•"/>
            </a:pPr>
            <a:r>
              <a:rPr lang="en-US" sz="2000" dirty="0">
                <a:solidFill>
                  <a:schemeClr val="bg1"/>
                </a:solidFill>
              </a:rPr>
              <a:t>Provide actionable, real-time feedback to instructors.</a:t>
            </a:r>
          </a:p>
          <a:p>
            <a:pPr marL="342900" indent="-342900" algn="just">
              <a:lnSpc>
                <a:spcPct val="150000"/>
              </a:lnSpc>
              <a:buFont typeface="Arial" panose="020B0604020202020204" pitchFamily="34" charset="0"/>
              <a:buChar char="•"/>
            </a:pPr>
            <a:r>
              <a:rPr lang="en-US" sz="2000" dirty="0">
                <a:solidFill>
                  <a:schemeClr val="bg1"/>
                </a:solidFill>
              </a:rPr>
              <a:t>Preserve privacy with edge processing and anonymized data sharing.</a:t>
            </a:r>
          </a:p>
        </p:txBody>
      </p:sp>
      <p:sp>
        <p:nvSpPr>
          <p:cNvPr id="3" name="TextBox 2">
            <a:extLst>
              <a:ext uri="{FF2B5EF4-FFF2-40B4-BE49-F238E27FC236}">
                <a16:creationId xmlns:a16="http://schemas.microsoft.com/office/drawing/2014/main" id="{84764F0D-E1FC-4DC5-F482-F0D3D965462B}"/>
              </a:ext>
            </a:extLst>
          </p:cNvPr>
          <p:cNvSpPr txBox="1"/>
          <p:nvPr/>
        </p:nvSpPr>
        <p:spPr>
          <a:xfrm>
            <a:off x="6812754" y="1702698"/>
            <a:ext cx="4543509" cy="2246769"/>
          </a:xfrm>
          <a:prstGeom prst="rect">
            <a:avLst/>
          </a:prstGeom>
          <a:noFill/>
        </p:spPr>
        <p:txBody>
          <a:bodyPr wrap="square" rtlCol="0">
            <a:spAutoFit/>
          </a:bodyPr>
          <a:lstStyle/>
          <a:p>
            <a:pPr algn="just"/>
            <a:r>
              <a:rPr lang="en-US" sz="2000" b="1" dirty="0">
                <a:solidFill>
                  <a:schemeClr val="accent3">
                    <a:lumMod val="60000"/>
                    <a:lumOff val="40000"/>
                  </a:schemeClr>
                </a:solidFill>
              </a:rPr>
              <a:t>USP:  </a:t>
            </a:r>
            <a:r>
              <a:rPr lang="en-US" sz="2000" dirty="0">
                <a:solidFill>
                  <a:schemeClr val="bg1"/>
                </a:solidFill>
              </a:rPr>
              <a:t>Adaptive timetable that aligns study hours with peak focus and emotional readiness.</a:t>
            </a:r>
          </a:p>
          <a:p>
            <a:pPr algn="just"/>
            <a:endParaRPr lang="en-US" sz="2000" dirty="0">
              <a:solidFill>
                <a:schemeClr val="bg1"/>
              </a:solidFill>
            </a:endParaRPr>
          </a:p>
          <a:p>
            <a:pPr algn="just"/>
            <a:r>
              <a:rPr lang="en-US" sz="2000" dirty="0">
                <a:solidFill>
                  <a:schemeClr val="bg1"/>
                </a:solidFill>
              </a:rPr>
              <a:t>Adjusts PPTs of teachers and study material as per the attention level of the students during lectures.</a:t>
            </a:r>
          </a:p>
        </p:txBody>
      </p:sp>
      <p:pic>
        <p:nvPicPr>
          <p:cNvPr id="3074" name="Picture 2" descr="USP (Unique Selling Point)">
            <a:extLst>
              <a:ext uri="{FF2B5EF4-FFF2-40B4-BE49-F238E27FC236}">
                <a16:creationId xmlns:a16="http://schemas.microsoft.com/office/drawing/2014/main" id="{3FA3C0D1-0269-D7F4-71FB-419CE67001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299" t="7965" r="4445" b="17342"/>
          <a:stretch>
            <a:fillRect/>
          </a:stretch>
        </p:blipFill>
        <p:spPr bwMode="auto">
          <a:xfrm>
            <a:off x="7566437" y="4251162"/>
            <a:ext cx="3036141" cy="1696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389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D772A9-E8DA-C431-06D1-D8112BA587D5}"/>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CCDE2BCB-CEBA-B2A7-6C72-BB2A96B72C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B5C4CFD4-0ADC-0E2D-7892-DD187EBEE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091A70C7-4B2A-B437-C5A0-7FEF2D35A1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559294"/>
            <a:ext cx="12191999"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14063336-C8B6-238C-191B-F29708B5E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D4645CA9-2F11-98D3-90F0-30BE43B9DFE4}"/>
              </a:ext>
            </a:extLst>
          </p:cNvPr>
          <p:cNvSpPr txBox="1"/>
          <p:nvPr/>
        </p:nvSpPr>
        <p:spPr>
          <a:xfrm>
            <a:off x="-2546383" y="-53548"/>
            <a:ext cx="9947305" cy="1090657"/>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300" b="1" dirty="0">
                <a:solidFill>
                  <a:srgbClr val="FFFFFF"/>
                </a:solidFill>
                <a:latin typeface="+mj-lt"/>
                <a:ea typeface="+mj-ea"/>
                <a:cs typeface="+mj-cs"/>
              </a:rPr>
              <a:t>Outcomes &amp; Workflow</a:t>
            </a:r>
            <a:endParaRPr lang="en-US" sz="3300" dirty="0">
              <a:solidFill>
                <a:srgbClr val="FFFFFF"/>
              </a:solidFill>
              <a:latin typeface="+mj-lt"/>
              <a:ea typeface="+mj-ea"/>
              <a:cs typeface="+mj-cs"/>
            </a:endParaRPr>
          </a:p>
        </p:txBody>
      </p:sp>
      <p:sp>
        <p:nvSpPr>
          <p:cNvPr id="1039" name="Freeform: Shape 1038">
            <a:extLst>
              <a:ext uri="{FF2B5EF4-FFF2-40B4-BE49-F238E27FC236}">
                <a16:creationId xmlns:a16="http://schemas.microsoft.com/office/drawing/2014/main" id="{361FC8A6-C3C5-2EE3-F865-C95DC835D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Rectangle 5">
            <a:extLst>
              <a:ext uri="{FF2B5EF4-FFF2-40B4-BE49-F238E27FC236}">
                <a16:creationId xmlns:a16="http://schemas.microsoft.com/office/drawing/2014/main" id="{072F5BB1-9652-D932-63A0-8F484F8E4D65}"/>
              </a:ext>
            </a:extLst>
          </p:cNvPr>
          <p:cNvSpPr/>
          <p:nvPr/>
        </p:nvSpPr>
        <p:spPr>
          <a:xfrm>
            <a:off x="262019" y="457704"/>
            <a:ext cx="4321411" cy="628443"/>
          </a:xfrm>
          <a:prstGeom prst="rect">
            <a:avLst/>
          </a:prstGeom>
          <a:noFill/>
          <a:ln>
            <a:solidFill>
              <a:schemeClr val="tx2">
                <a:lumMod val="10000"/>
                <a:lumOff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7" name="TextBox 6">
            <a:extLst>
              <a:ext uri="{FF2B5EF4-FFF2-40B4-BE49-F238E27FC236}">
                <a16:creationId xmlns:a16="http://schemas.microsoft.com/office/drawing/2014/main" id="{82775218-4A6F-BE43-FB89-92BC96F1C449}"/>
              </a:ext>
            </a:extLst>
          </p:cNvPr>
          <p:cNvSpPr txBox="1"/>
          <p:nvPr/>
        </p:nvSpPr>
        <p:spPr>
          <a:xfrm>
            <a:off x="262019" y="1365794"/>
            <a:ext cx="5452981" cy="5126212"/>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solidFill>
                  <a:schemeClr val="bg1"/>
                </a:solidFill>
              </a:rPr>
              <a:t>Real-time monitoring of student attention, their posture and emotions.</a:t>
            </a:r>
          </a:p>
          <a:p>
            <a:pPr marL="342900" indent="-342900" algn="just">
              <a:lnSpc>
                <a:spcPct val="150000"/>
              </a:lnSpc>
              <a:buFont typeface="Arial" panose="020B0604020202020204" pitchFamily="34" charset="0"/>
              <a:buChar char="•"/>
            </a:pPr>
            <a:r>
              <a:rPr lang="en-US" sz="2000" dirty="0">
                <a:solidFill>
                  <a:schemeClr val="bg1"/>
                </a:solidFill>
              </a:rPr>
              <a:t>Group-level attention metrics and visual heatmaps for class engagement to create a timetable to get maximum output</a:t>
            </a:r>
          </a:p>
          <a:p>
            <a:pPr marL="342900" indent="-342900" algn="just">
              <a:lnSpc>
                <a:spcPct val="150000"/>
              </a:lnSpc>
              <a:buFont typeface="Arial" panose="020B0604020202020204" pitchFamily="34" charset="0"/>
              <a:buChar char="•"/>
            </a:pPr>
            <a:r>
              <a:rPr lang="en-US" sz="2000" dirty="0">
                <a:solidFill>
                  <a:schemeClr val="bg1"/>
                </a:solidFill>
              </a:rPr>
              <a:t>Real time feedback to help teachers adapt their teaching style dynamically.</a:t>
            </a:r>
          </a:p>
          <a:p>
            <a:pPr marL="342900" indent="-342900" algn="just">
              <a:lnSpc>
                <a:spcPct val="150000"/>
              </a:lnSpc>
              <a:buFont typeface="Arial" panose="020B0604020202020204" pitchFamily="34" charset="0"/>
              <a:buChar char="•"/>
            </a:pPr>
            <a:r>
              <a:rPr lang="en-US" sz="2000" dirty="0">
                <a:solidFill>
                  <a:schemeClr val="bg1"/>
                </a:solidFill>
              </a:rPr>
              <a:t>Privacy-preserving system with secure data handling.</a:t>
            </a:r>
          </a:p>
          <a:p>
            <a:pPr marL="342900" indent="-342900" algn="just">
              <a:lnSpc>
                <a:spcPct val="150000"/>
              </a:lnSpc>
              <a:buFont typeface="Arial" panose="020B0604020202020204" pitchFamily="34" charset="0"/>
              <a:buChar char="•"/>
            </a:pPr>
            <a:r>
              <a:rPr lang="en-US" sz="2000" dirty="0">
                <a:solidFill>
                  <a:schemeClr val="bg1"/>
                </a:solidFill>
              </a:rPr>
              <a:t>Scalable edge-based solution for classrooms of varying sizes.</a:t>
            </a:r>
          </a:p>
        </p:txBody>
      </p:sp>
      <p:pic>
        <p:nvPicPr>
          <p:cNvPr id="2050" name="Picture 2" descr="Token-level attention heatmaps reveal divergent internal pathways... |  Download Scientific Diagram">
            <a:extLst>
              <a:ext uri="{FF2B5EF4-FFF2-40B4-BE49-F238E27FC236}">
                <a16:creationId xmlns:a16="http://schemas.microsoft.com/office/drawing/2014/main" id="{9D2F1B08-7B78-55FB-11C5-09977E5A652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16" t="778" r="11216" b="7388"/>
          <a:stretch>
            <a:fillRect/>
          </a:stretch>
        </p:blipFill>
        <p:spPr bwMode="auto">
          <a:xfrm>
            <a:off x="6400800" y="4124469"/>
            <a:ext cx="1749992" cy="177611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2B1A78B-223F-1700-5EF9-94A132AD2472}"/>
              </a:ext>
            </a:extLst>
          </p:cNvPr>
          <p:cNvSpPr txBox="1"/>
          <p:nvPr/>
        </p:nvSpPr>
        <p:spPr>
          <a:xfrm>
            <a:off x="6260128" y="6009749"/>
            <a:ext cx="2220932" cy="369332"/>
          </a:xfrm>
          <a:prstGeom prst="rect">
            <a:avLst/>
          </a:prstGeom>
          <a:noFill/>
        </p:spPr>
        <p:txBody>
          <a:bodyPr wrap="square" rtlCol="0">
            <a:spAutoFit/>
          </a:bodyPr>
          <a:lstStyle/>
          <a:p>
            <a:r>
              <a:rPr lang="en-US" b="1" dirty="0">
                <a:solidFill>
                  <a:schemeClr val="bg1"/>
                </a:solidFill>
                <a:latin typeface="+mj-lt"/>
              </a:rPr>
              <a:t>Attention Heatmaps</a:t>
            </a:r>
          </a:p>
        </p:txBody>
      </p:sp>
      <p:pic>
        <p:nvPicPr>
          <p:cNvPr id="2051" name="Picture 3">
            <a:extLst>
              <a:ext uri="{FF2B5EF4-FFF2-40B4-BE49-F238E27FC236}">
                <a16:creationId xmlns:a16="http://schemas.microsoft.com/office/drawing/2014/main" id="{75890527-F7FE-5F2F-57B5-AA0115118B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8020" y="194908"/>
            <a:ext cx="1758119" cy="175811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D70FE00-4305-0839-873C-91BBDACA55D0}"/>
              </a:ext>
            </a:extLst>
          </p:cNvPr>
          <p:cNvSpPr>
            <a:spLocks noChangeArrowheads="1"/>
          </p:cNvSpPr>
          <p:nvPr/>
        </p:nvSpPr>
        <p:spPr bwMode="auto">
          <a:xfrm flipV="1">
            <a:off x="8914561" y="-5425358"/>
            <a:ext cx="4066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7490DF52-F4B1-0656-89E1-BA72421F6C87}"/>
              </a:ext>
            </a:extLst>
          </p:cNvPr>
          <p:cNvSpPr txBox="1"/>
          <p:nvPr/>
        </p:nvSpPr>
        <p:spPr>
          <a:xfrm>
            <a:off x="6358234" y="2054616"/>
            <a:ext cx="1826269" cy="369332"/>
          </a:xfrm>
          <a:prstGeom prst="rect">
            <a:avLst/>
          </a:prstGeom>
          <a:noFill/>
        </p:spPr>
        <p:txBody>
          <a:bodyPr wrap="none" rtlCol="0">
            <a:spAutoFit/>
          </a:bodyPr>
          <a:lstStyle/>
          <a:p>
            <a:r>
              <a:rPr lang="en-US" b="1" dirty="0">
                <a:solidFill>
                  <a:schemeClr val="bg1"/>
                </a:solidFill>
                <a:latin typeface="+mj-lt"/>
              </a:rPr>
              <a:t>Various Subjects</a:t>
            </a:r>
          </a:p>
        </p:txBody>
      </p:sp>
      <p:sp>
        <p:nvSpPr>
          <p:cNvPr id="9" name="AutoShape 6">
            <a:extLst>
              <a:ext uri="{FF2B5EF4-FFF2-40B4-BE49-F238E27FC236}">
                <a16:creationId xmlns:a16="http://schemas.microsoft.com/office/drawing/2014/main" id="{FA6BB769-AECF-DB5E-CFA3-3BFC17090B8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8">
            <a:extLst>
              <a:ext uri="{FF2B5EF4-FFF2-40B4-BE49-F238E27FC236}">
                <a16:creationId xmlns:a16="http://schemas.microsoft.com/office/drawing/2014/main" id="{5A40EE25-A9F4-EBDA-0DF2-A8C4C3415077}"/>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a:extLst>
              <a:ext uri="{FF2B5EF4-FFF2-40B4-BE49-F238E27FC236}">
                <a16:creationId xmlns:a16="http://schemas.microsoft.com/office/drawing/2014/main" id="{254175CF-2BA5-D4A7-4A57-060A6273C047}"/>
              </a:ext>
            </a:extLst>
          </p:cNvPr>
          <p:cNvPicPr>
            <a:picLocks noChangeAspect="1"/>
          </p:cNvPicPr>
          <p:nvPr/>
        </p:nvPicPr>
        <p:blipFill>
          <a:blip r:embed="rId4"/>
          <a:srcRect l="17773" t="10136" r="18409" b="73481"/>
          <a:stretch>
            <a:fillRect/>
          </a:stretch>
        </p:blipFill>
        <p:spPr>
          <a:xfrm>
            <a:off x="6294418" y="2989089"/>
            <a:ext cx="1937647" cy="497426"/>
          </a:xfrm>
          <a:prstGeom prst="rect">
            <a:avLst/>
          </a:prstGeom>
        </p:spPr>
      </p:pic>
      <p:cxnSp>
        <p:nvCxnSpPr>
          <p:cNvPr id="14" name="Straight Arrow Connector 13">
            <a:extLst>
              <a:ext uri="{FF2B5EF4-FFF2-40B4-BE49-F238E27FC236}">
                <a16:creationId xmlns:a16="http://schemas.microsoft.com/office/drawing/2014/main" id="{FC519295-E2C7-3ABF-CD69-C29E42AB8879}"/>
              </a:ext>
            </a:extLst>
          </p:cNvPr>
          <p:cNvCxnSpPr>
            <a:cxnSpLocks/>
          </p:cNvCxnSpPr>
          <p:nvPr/>
        </p:nvCxnSpPr>
        <p:spPr>
          <a:xfrm flipH="1">
            <a:off x="7263242" y="2401088"/>
            <a:ext cx="8127" cy="56514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ABBFF3CD-113D-34AC-9306-BD16E82E41CA}"/>
              </a:ext>
            </a:extLst>
          </p:cNvPr>
          <p:cNvCxnSpPr/>
          <p:nvPr/>
        </p:nvCxnSpPr>
        <p:spPr>
          <a:xfrm flipH="1">
            <a:off x="7255622" y="3559328"/>
            <a:ext cx="8127" cy="56514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6" name="Straight Arrow Connector 15">
            <a:extLst>
              <a:ext uri="{FF2B5EF4-FFF2-40B4-BE49-F238E27FC236}">
                <a16:creationId xmlns:a16="http://schemas.microsoft.com/office/drawing/2014/main" id="{02184883-821A-58AE-1AB3-C3195E220A30}"/>
              </a:ext>
            </a:extLst>
          </p:cNvPr>
          <p:cNvCxnSpPr>
            <a:cxnSpLocks/>
          </p:cNvCxnSpPr>
          <p:nvPr/>
        </p:nvCxnSpPr>
        <p:spPr>
          <a:xfrm>
            <a:off x="8177716" y="4947182"/>
            <a:ext cx="657674"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2060" name="Picture 12" descr="How to Make a School Timetable? | Baeldung on Computer Science">
            <a:extLst>
              <a:ext uri="{FF2B5EF4-FFF2-40B4-BE49-F238E27FC236}">
                <a16:creationId xmlns:a16="http://schemas.microsoft.com/office/drawing/2014/main" id="{6DE9844A-209A-3914-B39C-439DA39C248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023" r="1905"/>
          <a:stretch>
            <a:fillRect/>
          </a:stretch>
        </p:blipFill>
        <p:spPr bwMode="auto">
          <a:xfrm>
            <a:off x="8978423" y="4112584"/>
            <a:ext cx="2714546" cy="1605812"/>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9D0D0A45-4427-7C7F-E745-BCD1F2ED3BB2}"/>
              </a:ext>
            </a:extLst>
          </p:cNvPr>
          <p:cNvSpPr txBox="1"/>
          <p:nvPr/>
        </p:nvSpPr>
        <p:spPr>
          <a:xfrm>
            <a:off x="8688265" y="5838894"/>
            <a:ext cx="3395173" cy="369332"/>
          </a:xfrm>
          <a:prstGeom prst="rect">
            <a:avLst/>
          </a:prstGeom>
          <a:noFill/>
        </p:spPr>
        <p:txBody>
          <a:bodyPr wrap="square" rtlCol="0">
            <a:spAutoFit/>
          </a:bodyPr>
          <a:lstStyle/>
          <a:p>
            <a:r>
              <a:rPr lang="en-US" b="1" dirty="0">
                <a:solidFill>
                  <a:schemeClr val="bg1"/>
                </a:solidFill>
                <a:latin typeface="+mj-lt"/>
              </a:rPr>
              <a:t>Cognitive Load–Aware Timetable</a:t>
            </a:r>
            <a:endParaRPr lang="en-US" dirty="0">
              <a:solidFill>
                <a:schemeClr val="bg1"/>
              </a:solidFill>
              <a:latin typeface="+mj-lt"/>
            </a:endParaRPr>
          </a:p>
        </p:txBody>
      </p:sp>
      <p:cxnSp>
        <p:nvCxnSpPr>
          <p:cNvPr id="20" name="Straight Arrow Connector 19">
            <a:extLst>
              <a:ext uri="{FF2B5EF4-FFF2-40B4-BE49-F238E27FC236}">
                <a16:creationId xmlns:a16="http://schemas.microsoft.com/office/drawing/2014/main" id="{CF48816F-214D-1CFF-E66A-45BBE9C94356}"/>
              </a:ext>
            </a:extLst>
          </p:cNvPr>
          <p:cNvCxnSpPr>
            <a:cxnSpLocks/>
            <a:endCxn id="2064" idx="2"/>
          </p:cNvCxnSpPr>
          <p:nvPr/>
        </p:nvCxnSpPr>
        <p:spPr>
          <a:xfrm flipH="1" flipV="1">
            <a:off x="10365265" y="3559328"/>
            <a:ext cx="20587" cy="46982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2062" name="Picture 14" descr="Programs for Improving Student's Academic Performance Using Web School  Software - Web School ERP">
            <a:extLst>
              <a:ext uri="{FF2B5EF4-FFF2-40B4-BE49-F238E27FC236}">
                <a16:creationId xmlns:a16="http://schemas.microsoft.com/office/drawing/2014/main" id="{AA03F667-1BF7-FE5C-06F9-8F002E985A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21033" y="227205"/>
            <a:ext cx="2688590" cy="1605813"/>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E9569A6B-9981-7461-EE8B-36275A73EF90}"/>
              </a:ext>
            </a:extLst>
          </p:cNvPr>
          <p:cNvSpPr txBox="1"/>
          <p:nvPr/>
        </p:nvSpPr>
        <p:spPr>
          <a:xfrm>
            <a:off x="9263047" y="1869927"/>
            <a:ext cx="2220932" cy="369332"/>
          </a:xfrm>
          <a:prstGeom prst="rect">
            <a:avLst/>
          </a:prstGeom>
          <a:noFill/>
        </p:spPr>
        <p:txBody>
          <a:bodyPr wrap="square" rtlCol="0">
            <a:spAutoFit/>
          </a:bodyPr>
          <a:lstStyle/>
          <a:p>
            <a:r>
              <a:rPr lang="en-US" b="1" dirty="0">
                <a:solidFill>
                  <a:schemeClr val="bg1"/>
                </a:solidFill>
                <a:latin typeface="+mj-lt"/>
              </a:rPr>
              <a:t>Academic Success</a:t>
            </a:r>
          </a:p>
        </p:txBody>
      </p:sp>
      <p:pic>
        <p:nvPicPr>
          <p:cNvPr id="2064" name="Picture 16" descr="How To Be More Focused On Your Tasks ...">
            <a:extLst>
              <a:ext uri="{FF2B5EF4-FFF2-40B4-BE49-F238E27FC236}">
                <a16:creationId xmlns:a16="http://schemas.microsoft.com/office/drawing/2014/main" id="{C6AEC7E5-776B-0D14-CE6C-B6373BB6C05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3656" b="19422"/>
          <a:stretch>
            <a:fillRect/>
          </a:stretch>
        </p:blipFill>
        <p:spPr bwMode="auto">
          <a:xfrm>
            <a:off x="9451898" y="2709080"/>
            <a:ext cx="1826734" cy="850248"/>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Arrow Connector 24">
            <a:extLst>
              <a:ext uri="{FF2B5EF4-FFF2-40B4-BE49-F238E27FC236}">
                <a16:creationId xmlns:a16="http://schemas.microsoft.com/office/drawing/2014/main" id="{150E8096-34EC-81E9-7811-27BCFA70B79B}"/>
              </a:ext>
            </a:extLst>
          </p:cNvPr>
          <p:cNvCxnSpPr>
            <a:cxnSpLocks/>
          </p:cNvCxnSpPr>
          <p:nvPr/>
        </p:nvCxnSpPr>
        <p:spPr>
          <a:xfrm flipV="1">
            <a:off x="10335696" y="2160542"/>
            <a:ext cx="0" cy="45854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400756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9497B7-7D30-B156-B08B-DA8CBF46314C}"/>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92703813-19A2-7535-7809-03C18FDA11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99017C9F-093C-3573-BD74-30DB66AEC4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ABC3F391-4F46-7ED7-7DEA-1BD90CBC11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559294"/>
            <a:ext cx="12191999"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78E02F9B-E3C0-9C89-2D07-E253E1D3CD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51DC2AEF-7A97-00EC-033F-5C233A0679CE}"/>
              </a:ext>
            </a:extLst>
          </p:cNvPr>
          <p:cNvSpPr txBox="1"/>
          <p:nvPr/>
        </p:nvSpPr>
        <p:spPr>
          <a:xfrm>
            <a:off x="-3447506" y="166810"/>
            <a:ext cx="9947305" cy="1090657"/>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300" b="1" dirty="0">
                <a:solidFill>
                  <a:srgbClr val="FFFFFF"/>
                </a:solidFill>
                <a:latin typeface="+mj-lt"/>
                <a:ea typeface="+mj-ea"/>
                <a:cs typeface="+mj-cs"/>
              </a:rPr>
              <a:t>Features</a:t>
            </a:r>
            <a:endParaRPr lang="en-US" sz="3300" dirty="0">
              <a:solidFill>
                <a:srgbClr val="FFFFFF"/>
              </a:solidFill>
              <a:latin typeface="+mj-lt"/>
              <a:ea typeface="+mj-ea"/>
              <a:cs typeface="+mj-cs"/>
            </a:endParaRPr>
          </a:p>
        </p:txBody>
      </p:sp>
      <p:sp>
        <p:nvSpPr>
          <p:cNvPr id="1039" name="Freeform: Shape 1038">
            <a:extLst>
              <a:ext uri="{FF2B5EF4-FFF2-40B4-BE49-F238E27FC236}">
                <a16:creationId xmlns:a16="http://schemas.microsoft.com/office/drawing/2014/main" id="{4FF164F3-E7CA-7642-A987-8DAB27DFE6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9258DE1E-AB47-C7FA-88AF-CD504F6E9C17}"/>
              </a:ext>
            </a:extLst>
          </p:cNvPr>
          <p:cNvSpPr txBox="1"/>
          <p:nvPr/>
        </p:nvSpPr>
        <p:spPr>
          <a:xfrm>
            <a:off x="402587" y="1549284"/>
            <a:ext cx="5290825" cy="4933851"/>
          </a:xfrm>
          <a:prstGeom prst="rect">
            <a:avLst/>
          </a:prstGeom>
          <a:noFill/>
        </p:spPr>
        <p:txBody>
          <a:bodyPr wrap="square" rtlCol="0">
            <a:spAutoFit/>
          </a:bodyPr>
          <a:lstStyle/>
          <a:p>
            <a:pPr marL="342900" indent="-342900">
              <a:lnSpc>
                <a:spcPct val="200000"/>
              </a:lnSpc>
              <a:buAutoNum type="arabicPeriod"/>
            </a:pPr>
            <a:r>
              <a:rPr lang="en-US" sz="2000" dirty="0">
                <a:solidFill>
                  <a:schemeClr val="bg1"/>
                </a:solidFill>
              </a:rPr>
              <a:t>Emotion Aware Study Companion</a:t>
            </a:r>
          </a:p>
          <a:p>
            <a:pPr marL="342900" indent="-342900">
              <a:lnSpc>
                <a:spcPct val="200000"/>
              </a:lnSpc>
              <a:buAutoNum type="arabicPeriod"/>
            </a:pPr>
            <a:r>
              <a:rPr lang="en-US" sz="2000" dirty="0">
                <a:solidFill>
                  <a:schemeClr val="bg1"/>
                </a:solidFill>
              </a:rPr>
              <a:t>AI Tutor for discussion</a:t>
            </a:r>
          </a:p>
          <a:p>
            <a:pPr marL="342900" indent="-342900">
              <a:lnSpc>
                <a:spcPct val="200000"/>
              </a:lnSpc>
              <a:buAutoNum type="arabicPeriod"/>
            </a:pPr>
            <a:r>
              <a:rPr lang="en-US" sz="2000" dirty="0">
                <a:solidFill>
                  <a:schemeClr val="bg1"/>
                </a:solidFill>
              </a:rPr>
              <a:t>Distraction Monitor</a:t>
            </a:r>
          </a:p>
          <a:p>
            <a:pPr marL="342900" indent="-342900">
              <a:lnSpc>
                <a:spcPct val="200000"/>
              </a:lnSpc>
              <a:buAutoNum type="arabicPeriod"/>
            </a:pPr>
            <a:r>
              <a:rPr lang="en-US" sz="2000" dirty="0">
                <a:solidFill>
                  <a:schemeClr val="bg1"/>
                </a:solidFill>
              </a:rPr>
              <a:t>Motivational Friend</a:t>
            </a:r>
          </a:p>
          <a:p>
            <a:pPr marL="342900" indent="-342900">
              <a:lnSpc>
                <a:spcPct val="150000"/>
              </a:lnSpc>
              <a:buAutoNum type="arabicPeriod"/>
            </a:pPr>
            <a:r>
              <a:rPr lang="en-US" sz="2000" dirty="0">
                <a:solidFill>
                  <a:schemeClr val="bg1"/>
                </a:solidFill>
              </a:rPr>
              <a:t>Emotional Stats Analyzer and Time-Table Creation  </a:t>
            </a:r>
          </a:p>
          <a:p>
            <a:pPr marL="342900" indent="-342900">
              <a:lnSpc>
                <a:spcPct val="150000"/>
              </a:lnSpc>
              <a:buFontTx/>
              <a:buAutoNum type="arabicPeriod"/>
            </a:pPr>
            <a:r>
              <a:rPr lang="en-US" sz="2000" dirty="0">
                <a:solidFill>
                  <a:schemeClr val="bg1"/>
                </a:solidFill>
              </a:rPr>
              <a:t>Dynamic Time-Table – Priority wise task execution  </a:t>
            </a:r>
          </a:p>
          <a:p>
            <a:pPr marL="342900" indent="-342900">
              <a:lnSpc>
                <a:spcPct val="200000"/>
              </a:lnSpc>
              <a:buAutoNum type="arabicPeriod"/>
            </a:pPr>
            <a:endParaRPr lang="en-US" sz="2000" dirty="0">
              <a:solidFill>
                <a:schemeClr val="bg1"/>
              </a:solidFill>
            </a:endParaRPr>
          </a:p>
        </p:txBody>
      </p:sp>
      <p:sp>
        <p:nvSpPr>
          <p:cNvPr id="3" name="TextBox 2">
            <a:extLst>
              <a:ext uri="{FF2B5EF4-FFF2-40B4-BE49-F238E27FC236}">
                <a16:creationId xmlns:a16="http://schemas.microsoft.com/office/drawing/2014/main" id="{CBBCA584-6D1B-AD30-9E71-F865D8455C93}"/>
              </a:ext>
            </a:extLst>
          </p:cNvPr>
          <p:cNvSpPr txBox="1"/>
          <p:nvPr/>
        </p:nvSpPr>
        <p:spPr>
          <a:xfrm>
            <a:off x="6138009" y="1381922"/>
            <a:ext cx="2488438" cy="1894558"/>
          </a:xfrm>
          <a:prstGeom prst="rect">
            <a:avLst/>
          </a:prstGeom>
          <a:noFill/>
        </p:spPr>
        <p:txBody>
          <a:bodyPr wrap="none" rtlCol="0">
            <a:spAutoFit/>
          </a:bodyPr>
          <a:lstStyle/>
          <a:p>
            <a:pPr>
              <a:lnSpc>
                <a:spcPct val="150000"/>
              </a:lnSpc>
            </a:pPr>
            <a:r>
              <a:rPr lang="en-US" sz="2000" b="1" dirty="0">
                <a:solidFill>
                  <a:schemeClr val="bg1"/>
                </a:solidFill>
              </a:rPr>
              <a:t>Hardware:</a:t>
            </a:r>
          </a:p>
          <a:p>
            <a:pPr marL="457200" indent="-457200">
              <a:lnSpc>
                <a:spcPct val="150000"/>
              </a:lnSpc>
              <a:buAutoNum type="arabicPeriod"/>
            </a:pPr>
            <a:r>
              <a:rPr lang="en-US" sz="2000" dirty="0">
                <a:solidFill>
                  <a:schemeClr val="bg1"/>
                </a:solidFill>
              </a:rPr>
              <a:t>Jetson nano</a:t>
            </a:r>
          </a:p>
          <a:p>
            <a:pPr marL="457200" indent="-457200">
              <a:lnSpc>
                <a:spcPct val="150000"/>
              </a:lnSpc>
              <a:buAutoNum type="arabicPeriod"/>
            </a:pPr>
            <a:r>
              <a:rPr lang="en-US" sz="2000" dirty="0">
                <a:solidFill>
                  <a:schemeClr val="bg1"/>
                </a:solidFill>
              </a:rPr>
              <a:t>Speaker and mic</a:t>
            </a:r>
          </a:p>
          <a:p>
            <a:pPr marL="457200" indent="-457200">
              <a:lnSpc>
                <a:spcPct val="150000"/>
              </a:lnSpc>
              <a:buAutoNum type="arabicPeriod"/>
            </a:pPr>
            <a:r>
              <a:rPr lang="en-US" sz="2000" dirty="0">
                <a:solidFill>
                  <a:schemeClr val="bg1"/>
                </a:solidFill>
              </a:rPr>
              <a:t>2 Cameras</a:t>
            </a:r>
          </a:p>
        </p:txBody>
      </p:sp>
      <p:sp>
        <p:nvSpPr>
          <p:cNvPr id="5" name="TextBox 4">
            <a:extLst>
              <a:ext uri="{FF2B5EF4-FFF2-40B4-BE49-F238E27FC236}">
                <a16:creationId xmlns:a16="http://schemas.microsoft.com/office/drawing/2014/main" id="{1157DEE4-2240-19EA-DBB6-B38AD73591BC}"/>
              </a:ext>
            </a:extLst>
          </p:cNvPr>
          <p:cNvSpPr txBox="1"/>
          <p:nvPr/>
        </p:nvSpPr>
        <p:spPr>
          <a:xfrm>
            <a:off x="6095997" y="3457313"/>
            <a:ext cx="5538308" cy="2817951"/>
          </a:xfrm>
          <a:prstGeom prst="rect">
            <a:avLst/>
          </a:prstGeom>
          <a:noFill/>
        </p:spPr>
        <p:txBody>
          <a:bodyPr wrap="square" rtlCol="0">
            <a:spAutoFit/>
          </a:bodyPr>
          <a:lstStyle/>
          <a:p>
            <a:pPr>
              <a:lnSpc>
                <a:spcPct val="150000"/>
              </a:lnSpc>
            </a:pPr>
            <a:r>
              <a:rPr lang="en-US" sz="2000" b="1" dirty="0">
                <a:solidFill>
                  <a:schemeClr val="bg1"/>
                </a:solidFill>
              </a:rPr>
              <a:t>Software:</a:t>
            </a:r>
          </a:p>
          <a:p>
            <a:pPr marL="457200" indent="-457200">
              <a:lnSpc>
                <a:spcPct val="150000"/>
              </a:lnSpc>
              <a:buAutoNum type="arabicPeriod"/>
            </a:pPr>
            <a:r>
              <a:rPr lang="en-US" sz="2000" dirty="0" err="1">
                <a:solidFill>
                  <a:schemeClr val="bg1"/>
                </a:solidFill>
              </a:rPr>
              <a:t>MediaPipe</a:t>
            </a:r>
            <a:r>
              <a:rPr lang="en-US" sz="2000" dirty="0">
                <a:solidFill>
                  <a:schemeClr val="bg1"/>
                </a:solidFill>
              </a:rPr>
              <a:t> or </a:t>
            </a:r>
            <a:r>
              <a:rPr lang="en-US" sz="2000" dirty="0" err="1">
                <a:solidFill>
                  <a:schemeClr val="bg1"/>
                </a:solidFill>
              </a:rPr>
              <a:t>MoveNet</a:t>
            </a:r>
            <a:r>
              <a:rPr lang="en-US" sz="2000" dirty="0">
                <a:solidFill>
                  <a:schemeClr val="bg1"/>
                </a:solidFill>
              </a:rPr>
              <a:t> for posture recognition</a:t>
            </a:r>
          </a:p>
          <a:p>
            <a:pPr marL="457200" indent="-457200">
              <a:lnSpc>
                <a:spcPct val="150000"/>
              </a:lnSpc>
              <a:buAutoNum type="arabicPeriod"/>
            </a:pPr>
            <a:r>
              <a:rPr lang="en-US" sz="2000" dirty="0">
                <a:solidFill>
                  <a:schemeClr val="bg1"/>
                </a:solidFill>
              </a:rPr>
              <a:t>Distraction detection using facial and audio analysis</a:t>
            </a:r>
          </a:p>
          <a:p>
            <a:pPr marL="457200" indent="-457200">
              <a:lnSpc>
                <a:spcPct val="150000"/>
              </a:lnSpc>
              <a:buAutoNum type="arabicPeriod"/>
            </a:pPr>
            <a:r>
              <a:rPr lang="en-US" sz="2000" dirty="0">
                <a:solidFill>
                  <a:schemeClr val="bg1"/>
                </a:solidFill>
              </a:rPr>
              <a:t>Python (</a:t>
            </a:r>
            <a:r>
              <a:rPr lang="en-US" sz="2000" dirty="0" err="1">
                <a:solidFill>
                  <a:schemeClr val="bg1"/>
                </a:solidFill>
              </a:rPr>
              <a:t>FastAPI</a:t>
            </a:r>
            <a:r>
              <a:rPr lang="en-US" sz="2000" dirty="0">
                <a:solidFill>
                  <a:schemeClr val="bg1"/>
                </a:solidFill>
              </a:rPr>
              <a:t>) for backend, etc.</a:t>
            </a:r>
          </a:p>
        </p:txBody>
      </p:sp>
      <p:pic>
        <p:nvPicPr>
          <p:cNvPr id="5122" name="Picture 2" descr="Monty's Smart AI Assistant - Monty Mobile">
            <a:extLst>
              <a:ext uri="{FF2B5EF4-FFF2-40B4-BE49-F238E27FC236}">
                <a16:creationId xmlns:a16="http://schemas.microsoft.com/office/drawing/2014/main" id="{3CDB4B2B-486A-A8AE-DE73-329BADA1B0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300" r="19800"/>
          <a:stretch>
            <a:fillRect/>
          </a:stretch>
        </p:blipFill>
        <p:spPr bwMode="auto">
          <a:xfrm>
            <a:off x="9268451" y="1224091"/>
            <a:ext cx="2320290" cy="21336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F70F6C95-7A42-369D-914B-F64807DD20E9}"/>
              </a:ext>
            </a:extLst>
          </p:cNvPr>
          <p:cNvSpPr/>
          <p:nvPr/>
        </p:nvSpPr>
        <p:spPr>
          <a:xfrm>
            <a:off x="6210431" y="663647"/>
            <a:ext cx="2242185" cy="628443"/>
          </a:xfrm>
          <a:prstGeom prst="rect">
            <a:avLst/>
          </a:prstGeom>
          <a:noFill/>
          <a:ln>
            <a:solidFill>
              <a:schemeClr val="tx2">
                <a:lumMod val="10000"/>
                <a:lumOff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945970C6-78FA-0D24-BBF9-2746C0E0BEDA}"/>
              </a:ext>
            </a:extLst>
          </p:cNvPr>
          <p:cNvSpPr txBox="1"/>
          <p:nvPr/>
        </p:nvSpPr>
        <p:spPr>
          <a:xfrm>
            <a:off x="6357810" y="731648"/>
            <a:ext cx="1819152" cy="492443"/>
          </a:xfrm>
          <a:prstGeom prst="rect">
            <a:avLst/>
          </a:prstGeom>
          <a:noFill/>
        </p:spPr>
        <p:txBody>
          <a:bodyPr wrap="none" rtlCol="0">
            <a:spAutoFit/>
          </a:bodyPr>
          <a:lstStyle/>
          <a:p>
            <a:r>
              <a:rPr lang="en-US" sz="2600" b="1" dirty="0">
                <a:solidFill>
                  <a:schemeClr val="bg1"/>
                </a:solidFill>
                <a:latin typeface="+mj-lt"/>
              </a:rPr>
              <a:t>Tools Used:</a:t>
            </a:r>
          </a:p>
        </p:txBody>
      </p:sp>
      <p:sp>
        <p:nvSpPr>
          <p:cNvPr id="8" name="Rectangle 7">
            <a:extLst>
              <a:ext uri="{FF2B5EF4-FFF2-40B4-BE49-F238E27FC236}">
                <a16:creationId xmlns:a16="http://schemas.microsoft.com/office/drawing/2014/main" id="{7917CDC5-F8B0-C436-3875-FB1CC5B6B25B}"/>
              </a:ext>
            </a:extLst>
          </p:cNvPr>
          <p:cNvSpPr/>
          <p:nvPr/>
        </p:nvSpPr>
        <p:spPr>
          <a:xfrm>
            <a:off x="402587" y="656385"/>
            <a:ext cx="2242185" cy="628443"/>
          </a:xfrm>
          <a:prstGeom prst="rect">
            <a:avLst/>
          </a:prstGeom>
          <a:noFill/>
          <a:ln>
            <a:solidFill>
              <a:schemeClr val="tx2">
                <a:lumMod val="10000"/>
                <a:lumOff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357453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B38156-C91F-9A80-D3ED-B35EBE40E12B}"/>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5D308FD7-7505-7EC5-3ECC-DD110F59E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3F5BBCDF-35FC-E10A-3062-0BBC8424D8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B10141DE-E72B-5FA1-E4F3-154891D0F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559294"/>
            <a:ext cx="12191999"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2A930BB4-A2D8-BD01-A2AF-323A9E1CB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40F2EA04-A37F-8314-8FED-24ACDBAE1130}"/>
              </a:ext>
            </a:extLst>
          </p:cNvPr>
          <p:cNvSpPr txBox="1"/>
          <p:nvPr/>
        </p:nvSpPr>
        <p:spPr>
          <a:xfrm>
            <a:off x="-2945979" y="-147411"/>
            <a:ext cx="9947305" cy="1090657"/>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100" b="1" dirty="0">
                <a:solidFill>
                  <a:srgbClr val="FFFFFF"/>
                </a:solidFill>
                <a:latin typeface="+mj-lt"/>
                <a:ea typeface="+mj-ea"/>
                <a:cs typeface="+mj-cs"/>
              </a:rPr>
              <a:t>Jetson Nano</a:t>
            </a:r>
            <a:endParaRPr lang="en-US" sz="3100" dirty="0">
              <a:solidFill>
                <a:srgbClr val="FFFFFF"/>
              </a:solidFill>
              <a:latin typeface="+mj-lt"/>
              <a:ea typeface="+mj-ea"/>
              <a:cs typeface="+mj-cs"/>
            </a:endParaRPr>
          </a:p>
        </p:txBody>
      </p:sp>
      <p:sp>
        <p:nvSpPr>
          <p:cNvPr id="1039" name="Freeform: Shape 1038">
            <a:extLst>
              <a:ext uri="{FF2B5EF4-FFF2-40B4-BE49-F238E27FC236}">
                <a16:creationId xmlns:a16="http://schemas.microsoft.com/office/drawing/2014/main" id="{37A5FE11-9FD7-A5E9-D257-8E0D51160F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Rectangle 7">
            <a:extLst>
              <a:ext uri="{FF2B5EF4-FFF2-40B4-BE49-F238E27FC236}">
                <a16:creationId xmlns:a16="http://schemas.microsoft.com/office/drawing/2014/main" id="{F49911EA-17DE-B6DE-3F87-C6EF72B5942E}"/>
              </a:ext>
            </a:extLst>
          </p:cNvPr>
          <p:cNvSpPr/>
          <p:nvPr/>
        </p:nvSpPr>
        <p:spPr>
          <a:xfrm>
            <a:off x="787920" y="366664"/>
            <a:ext cx="2479509" cy="628443"/>
          </a:xfrm>
          <a:prstGeom prst="rect">
            <a:avLst/>
          </a:prstGeom>
          <a:noFill/>
          <a:ln>
            <a:solidFill>
              <a:schemeClr val="tx2">
                <a:lumMod val="10000"/>
                <a:lumOff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1026" name="Picture 2">
            <a:extLst>
              <a:ext uri="{FF2B5EF4-FFF2-40B4-BE49-F238E27FC236}">
                <a16:creationId xmlns:a16="http://schemas.microsoft.com/office/drawing/2014/main" id="{B2FB709C-1406-B735-46A6-80939F27FC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0480" y="277793"/>
            <a:ext cx="7185129" cy="629828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7B27401-79D4-5582-28C8-ACCC6A75457B}"/>
              </a:ext>
            </a:extLst>
          </p:cNvPr>
          <p:cNvSpPr txBox="1"/>
          <p:nvPr/>
        </p:nvSpPr>
        <p:spPr>
          <a:xfrm>
            <a:off x="305551" y="1588975"/>
            <a:ext cx="3955763" cy="4622869"/>
          </a:xfrm>
          <a:prstGeom prst="rect">
            <a:avLst/>
          </a:prstGeom>
          <a:noFill/>
        </p:spPr>
        <p:txBody>
          <a:bodyPr wrap="none" rtlCol="0">
            <a:spAutoFit/>
          </a:bodyPr>
          <a:lstStyle/>
          <a:p>
            <a:pPr marL="342900" indent="-342900">
              <a:lnSpc>
                <a:spcPct val="150000"/>
              </a:lnSpc>
              <a:buClr>
                <a:schemeClr val="accent3">
                  <a:lumMod val="60000"/>
                  <a:lumOff val="40000"/>
                </a:schemeClr>
              </a:buClr>
              <a:buFont typeface="+mj-lt"/>
              <a:buAutoNum type="arabicPeriod"/>
            </a:pPr>
            <a:r>
              <a:rPr lang="en-US" dirty="0">
                <a:solidFill>
                  <a:schemeClr val="bg1"/>
                </a:solidFill>
              </a:rPr>
              <a:t>microSD card slot for main storage</a:t>
            </a:r>
          </a:p>
          <a:p>
            <a:pPr marL="342900" indent="-342900">
              <a:lnSpc>
                <a:spcPct val="150000"/>
              </a:lnSpc>
              <a:buClr>
                <a:schemeClr val="accent3">
                  <a:lumMod val="60000"/>
                  <a:lumOff val="40000"/>
                </a:schemeClr>
              </a:buClr>
              <a:buFont typeface="+mj-lt"/>
              <a:buAutoNum type="arabicPeriod"/>
            </a:pPr>
            <a:r>
              <a:rPr lang="en-US" dirty="0">
                <a:solidFill>
                  <a:schemeClr val="bg1"/>
                </a:solidFill>
              </a:rPr>
              <a:t>40-pin expansion header</a:t>
            </a:r>
          </a:p>
          <a:p>
            <a:pPr marL="342900" indent="-342900">
              <a:lnSpc>
                <a:spcPct val="150000"/>
              </a:lnSpc>
              <a:buClr>
                <a:schemeClr val="accent3">
                  <a:lumMod val="60000"/>
                  <a:lumOff val="40000"/>
                </a:schemeClr>
              </a:buClr>
              <a:buFont typeface="+mj-lt"/>
              <a:buAutoNum type="arabicPeriod"/>
            </a:pPr>
            <a:r>
              <a:rPr lang="en-US" dirty="0">
                <a:solidFill>
                  <a:schemeClr val="bg1"/>
                </a:solidFill>
              </a:rPr>
              <a:t>Power indicator LED</a:t>
            </a:r>
          </a:p>
          <a:p>
            <a:pPr marL="342900" indent="-342900">
              <a:lnSpc>
                <a:spcPct val="150000"/>
              </a:lnSpc>
              <a:buClr>
                <a:schemeClr val="accent3">
                  <a:lumMod val="60000"/>
                  <a:lumOff val="40000"/>
                </a:schemeClr>
              </a:buClr>
              <a:buFont typeface="+mj-lt"/>
              <a:buAutoNum type="arabicPeriod"/>
            </a:pPr>
            <a:r>
              <a:rPr lang="en-US" dirty="0">
                <a:solidFill>
                  <a:schemeClr val="bg1"/>
                </a:solidFill>
              </a:rPr>
              <a:t>USB-C port for data only</a:t>
            </a:r>
          </a:p>
          <a:p>
            <a:pPr marL="342900" indent="-342900">
              <a:lnSpc>
                <a:spcPct val="150000"/>
              </a:lnSpc>
              <a:buClr>
                <a:schemeClr val="accent3">
                  <a:lumMod val="60000"/>
                  <a:lumOff val="40000"/>
                </a:schemeClr>
              </a:buClr>
              <a:buFont typeface="+mj-lt"/>
              <a:buAutoNum type="arabicPeriod"/>
            </a:pPr>
            <a:r>
              <a:rPr lang="en-US" dirty="0">
                <a:solidFill>
                  <a:schemeClr val="bg1"/>
                </a:solidFill>
              </a:rPr>
              <a:t>Gigabit Ethernet port</a:t>
            </a:r>
          </a:p>
          <a:p>
            <a:pPr marL="342900" indent="-342900">
              <a:lnSpc>
                <a:spcPct val="150000"/>
              </a:lnSpc>
              <a:buClr>
                <a:schemeClr val="accent3">
                  <a:lumMod val="60000"/>
                  <a:lumOff val="40000"/>
                </a:schemeClr>
              </a:buClr>
              <a:buFont typeface="+mj-lt"/>
              <a:buAutoNum type="arabicPeriod"/>
            </a:pPr>
            <a:r>
              <a:rPr lang="en-US" dirty="0">
                <a:solidFill>
                  <a:schemeClr val="bg1"/>
                </a:solidFill>
              </a:rPr>
              <a:t>USB 3.1 Type A ports (x4)</a:t>
            </a:r>
          </a:p>
          <a:p>
            <a:pPr marL="342900" indent="-342900">
              <a:lnSpc>
                <a:spcPct val="150000"/>
              </a:lnSpc>
              <a:buClr>
                <a:schemeClr val="accent3">
                  <a:lumMod val="60000"/>
                  <a:lumOff val="40000"/>
                </a:schemeClr>
              </a:buClr>
              <a:buFont typeface="+mj-lt"/>
              <a:buAutoNum type="arabicPeriod"/>
            </a:pPr>
            <a:r>
              <a:rPr lang="en-US" dirty="0">
                <a:solidFill>
                  <a:schemeClr val="bg1"/>
                </a:solidFill>
              </a:rPr>
              <a:t>DisplayPort connector</a:t>
            </a:r>
          </a:p>
          <a:p>
            <a:pPr marL="342900" indent="-342900">
              <a:lnSpc>
                <a:spcPct val="150000"/>
              </a:lnSpc>
              <a:buClr>
                <a:schemeClr val="accent3">
                  <a:lumMod val="60000"/>
                  <a:lumOff val="40000"/>
                </a:schemeClr>
              </a:buClr>
              <a:buFont typeface="+mj-lt"/>
              <a:buAutoNum type="arabicPeriod"/>
            </a:pPr>
            <a:r>
              <a:rPr lang="en-US" dirty="0">
                <a:solidFill>
                  <a:schemeClr val="bg1"/>
                </a:solidFill>
              </a:rPr>
              <a:t>DC Barrel jack for 19V power input</a:t>
            </a:r>
          </a:p>
          <a:p>
            <a:pPr marL="342900" indent="-342900">
              <a:lnSpc>
                <a:spcPct val="150000"/>
              </a:lnSpc>
              <a:buClr>
                <a:schemeClr val="accent3">
                  <a:lumMod val="60000"/>
                  <a:lumOff val="40000"/>
                </a:schemeClr>
              </a:buClr>
              <a:buFont typeface="+mj-lt"/>
              <a:buAutoNum type="arabicPeriod"/>
            </a:pPr>
            <a:r>
              <a:rPr lang="en-US" dirty="0">
                <a:solidFill>
                  <a:schemeClr val="bg1"/>
                </a:solidFill>
              </a:rPr>
              <a:t>MIPI CSI camera connectors</a:t>
            </a:r>
          </a:p>
          <a:p>
            <a:pPr>
              <a:lnSpc>
                <a:spcPct val="150000"/>
              </a:lnSpc>
            </a:pPr>
            <a:endParaRPr lang="en-US" dirty="0">
              <a:solidFill>
                <a:schemeClr val="bg1"/>
              </a:solidFill>
            </a:endParaRPr>
          </a:p>
          <a:p>
            <a:pPr>
              <a:lnSpc>
                <a:spcPct val="150000"/>
              </a:lnSpc>
            </a:pPr>
            <a:endParaRPr lang="en-US" dirty="0">
              <a:solidFill>
                <a:schemeClr val="bg1"/>
              </a:solidFill>
            </a:endParaRPr>
          </a:p>
        </p:txBody>
      </p:sp>
    </p:spTree>
    <p:extLst>
      <p:ext uri="{BB962C8B-B14F-4D97-AF65-F5344CB8AC3E}">
        <p14:creationId xmlns:p14="http://schemas.microsoft.com/office/powerpoint/2010/main" val="1997326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97FB4A-D608-BFB3-19E7-602A8EC82C01}"/>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FA56F1CC-6897-AA86-F14C-716798E5F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186AD52F-3749-1E6A-2A68-DE76A6E8C4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E8BD7973-6415-B939-E899-3184009B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559294"/>
            <a:ext cx="12191999"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B5DB8F02-20EE-E1AB-9570-7B49F1F62A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9" name="Freeform: Shape 1038">
            <a:extLst>
              <a:ext uri="{FF2B5EF4-FFF2-40B4-BE49-F238E27FC236}">
                <a16:creationId xmlns:a16="http://schemas.microsoft.com/office/drawing/2014/main" id="{A74AF257-B974-486C-D04C-53098CF20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 0">
            <a:extLst>
              <a:ext uri="{FF2B5EF4-FFF2-40B4-BE49-F238E27FC236}">
                <a16:creationId xmlns:a16="http://schemas.microsoft.com/office/drawing/2014/main" id="{692E777C-65E0-E353-D33F-3DE50B7C3B1D}"/>
              </a:ext>
            </a:extLst>
          </p:cNvPr>
          <p:cNvSpPr/>
          <p:nvPr/>
        </p:nvSpPr>
        <p:spPr>
          <a:xfrm>
            <a:off x="2923794" y="256412"/>
            <a:ext cx="4892481" cy="259173"/>
          </a:xfrm>
          <a:prstGeom prst="rect">
            <a:avLst/>
          </a:prstGeom>
          <a:noFill/>
          <a:ln/>
        </p:spPr>
        <p:txBody>
          <a:bodyPr wrap="none" lIns="0" tIns="0" rIns="0" bIns="0" rtlCol="0" anchor="t"/>
          <a:lstStyle/>
          <a:p>
            <a:pPr marL="0" indent="0" algn="l">
              <a:lnSpc>
                <a:spcPts val="4750"/>
              </a:lnSpc>
              <a:buNone/>
            </a:pPr>
            <a:r>
              <a:rPr lang="en-US" sz="3400" b="1" dirty="0">
                <a:solidFill>
                  <a:schemeClr val="bg1"/>
                </a:solidFill>
                <a:latin typeface="Source Serif 4 Semi Bold" pitchFamily="34" charset="0"/>
                <a:ea typeface="Source Serif 4 Semi Bold" pitchFamily="34" charset="-122"/>
                <a:cs typeface="Source Serif 4 Semi Bold" pitchFamily="34" charset="-120"/>
              </a:rPr>
              <a:t>How Hardware Makes It Profitable ?</a:t>
            </a:r>
            <a:endParaRPr lang="en-US" sz="3400" b="1" dirty="0">
              <a:solidFill>
                <a:schemeClr val="bg1"/>
              </a:solidFill>
            </a:endParaRPr>
          </a:p>
        </p:txBody>
      </p:sp>
      <p:sp>
        <p:nvSpPr>
          <p:cNvPr id="5" name="Text 1">
            <a:extLst>
              <a:ext uri="{FF2B5EF4-FFF2-40B4-BE49-F238E27FC236}">
                <a16:creationId xmlns:a16="http://schemas.microsoft.com/office/drawing/2014/main" id="{8F4AAA0A-3699-6F46-AD5D-27B44353DCFC}"/>
              </a:ext>
            </a:extLst>
          </p:cNvPr>
          <p:cNvSpPr/>
          <p:nvPr/>
        </p:nvSpPr>
        <p:spPr>
          <a:xfrm>
            <a:off x="505301" y="1115646"/>
            <a:ext cx="11473339" cy="281940"/>
          </a:xfrm>
          <a:prstGeom prst="rect">
            <a:avLst/>
          </a:prstGeom>
          <a:noFill/>
          <a:ln/>
        </p:spPr>
        <p:txBody>
          <a:bodyPr wrap="square" lIns="0" tIns="0" rIns="0" bIns="0" rtlCol="0" anchor="t"/>
          <a:lstStyle/>
          <a:p>
            <a:pPr marL="0" indent="0" algn="l">
              <a:lnSpc>
                <a:spcPts val="2600"/>
              </a:lnSpc>
              <a:buNone/>
            </a:pPr>
            <a:r>
              <a:rPr lang="en-US" sz="1600" dirty="0">
                <a:solidFill>
                  <a:schemeClr val="bg1"/>
                </a:solidFill>
                <a:latin typeface="Source Sans 3" pitchFamily="34" charset="0"/>
                <a:ea typeface="Source Sans 3" pitchFamily="34" charset="-122"/>
                <a:cs typeface="Source Sans 3" pitchFamily="34" charset="-120"/>
              </a:rPr>
              <a:t>Integrating IoT hardware not only enhances the user experience but also unlocks powerful, diversified revenue streams and establishes a formidable competitive advantage in the burgeoning wellness market.</a:t>
            </a:r>
            <a:endParaRPr lang="en-US" sz="1600" dirty="0">
              <a:solidFill>
                <a:schemeClr val="bg1"/>
              </a:solidFill>
            </a:endParaRPr>
          </a:p>
        </p:txBody>
      </p:sp>
      <p:pic>
        <p:nvPicPr>
          <p:cNvPr id="8" name="Image 0" descr="preencoded.png">
            <a:extLst>
              <a:ext uri="{FF2B5EF4-FFF2-40B4-BE49-F238E27FC236}">
                <a16:creationId xmlns:a16="http://schemas.microsoft.com/office/drawing/2014/main" id="{4DA15BD1-509B-C459-D3F7-8D5B62053099}"/>
              </a:ext>
            </a:extLst>
          </p:cNvPr>
          <p:cNvPicPr>
            <a:picLocks noChangeAspect="1"/>
          </p:cNvPicPr>
          <p:nvPr/>
        </p:nvPicPr>
        <p:blipFill>
          <a:blip r:embed="rId2"/>
          <a:stretch>
            <a:fillRect/>
          </a:stretch>
        </p:blipFill>
        <p:spPr>
          <a:xfrm>
            <a:off x="2342078" y="1385293"/>
            <a:ext cx="188030" cy="235038"/>
          </a:xfrm>
          <a:prstGeom prst="rect">
            <a:avLst/>
          </a:prstGeom>
        </p:spPr>
      </p:pic>
      <p:sp>
        <p:nvSpPr>
          <p:cNvPr id="9" name="Text 3">
            <a:extLst>
              <a:ext uri="{FF2B5EF4-FFF2-40B4-BE49-F238E27FC236}">
                <a16:creationId xmlns:a16="http://schemas.microsoft.com/office/drawing/2014/main" id="{1775EA2B-9BFD-AE03-7F7C-9264DB59623D}"/>
              </a:ext>
            </a:extLst>
          </p:cNvPr>
          <p:cNvSpPr/>
          <p:nvPr/>
        </p:nvSpPr>
        <p:spPr>
          <a:xfrm>
            <a:off x="574478" y="2094787"/>
            <a:ext cx="1855644" cy="129586"/>
          </a:xfrm>
          <a:prstGeom prst="rect">
            <a:avLst/>
          </a:prstGeom>
          <a:noFill/>
          <a:ln/>
        </p:spPr>
        <p:txBody>
          <a:bodyPr wrap="none" lIns="0" tIns="0" rIns="0" bIns="0" rtlCol="0" anchor="t"/>
          <a:lstStyle/>
          <a:p>
            <a:pPr marL="0" indent="0" algn="l">
              <a:lnSpc>
                <a:spcPts val="2350"/>
              </a:lnSpc>
              <a:buNone/>
            </a:pPr>
            <a:r>
              <a:rPr lang="en-US" sz="1900" dirty="0">
                <a:solidFill>
                  <a:schemeClr val="accent3">
                    <a:lumMod val="60000"/>
                    <a:lumOff val="40000"/>
                  </a:schemeClr>
                </a:solidFill>
                <a:latin typeface="Source Serif 4 Semi Bold" pitchFamily="34" charset="0"/>
                <a:ea typeface="Source Serif 4 Semi Bold" pitchFamily="34" charset="-122"/>
                <a:cs typeface="Source Serif 4 Semi Bold" pitchFamily="34" charset="-120"/>
              </a:rPr>
              <a:t>Multiple Revenue Streams</a:t>
            </a:r>
            <a:endParaRPr lang="en-US" sz="1900" dirty="0">
              <a:solidFill>
                <a:schemeClr val="accent3">
                  <a:lumMod val="60000"/>
                  <a:lumOff val="40000"/>
                </a:schemeClr>
              </a:solidFill>
            </a:endParaRPr>
          </a:p>
        </p:txBody>
      </p:sp>
      <p:sp>
        <p:nvSpPr>
          <p:cNvPr id="10" name="Text 4">
            <a:extLst>
              <a:ext uri="{FF2B5EF4-FFF2-40B4-BE49-F238E27FC236}">
                <a16:creationId xmlns:a16="http://schemas.microsoft.com/office/drawing/2014/main" id="{152D4038-25DF-79AD-7F44-6B5DFF68CC86}"/>
              </a:ext>
            </a:extLst>
          </p:cNvPr>
          <p:cNvSpPr/>
          <p:nvPr/>
        </p:nvSpPr>
        <p:spPr>
          <a:xfrm>
            <a:off x="585907" y="2705101"/>
            <a:ext cx="2991803" cy="216473"/>
          </a:xfrm>
          <a:prstGeom prst="rect">
            <a:avLst/>
          </a:prstGeom>
          <a:noFill/>
          <a:ln/>
        </p:spPr>
        <p:txBody>
          <a:bodyPr wrap="square" lIns="0" tIns="0" rIns="0" bIns="0" rtlCol="0" anchor="t"/>
          <a:lstStyle/>
          <a:p>
            <a:pPr marL="342900" indent="-342900" algn="just">
              <a:lnSpc>
                <a:spcPts val="2600"/>
              </a:lnSpc>
              <a:buSzPct val="100000"/>
              <a:buChar char="•"/>
            </a:pPr>
            <a:r>
              <a:rPr lang="en-US" sz="1600" b="1" dirty="0">
                <a:solidFill>
                  <a:schemeClr val="bg1"/>
                </a:solidFill>
                <a:latin typeface="Source Sans 3" pitchFamily="34" charset="0"/>
                <a:ea typeface="Source Sans 3" pitchFamily="34" charset="-122"/>
                <a:cs typeface="Source Sans 3" pitchFamily="34" charset="-120"/>
              </a:rPr>
              <a:t>Device Sales:</a:t>
            </a:r>
            <a:r>
              <a:rPr lang="en-US" sz="1600" dirty="0">
                <a:solidFill>
                  <a:schemeClr val="bg1"/>
                </a:solidFill>
                <a:latin typeface="Source Sans 3" pitchFamily="34" charset="0"/>
                <a:ea typeface="Source Sans 3" pitchFamily="34" charset="-122"/>
                <a:cs typeface="Source Sans 3" pitchFamily="34" charset="-120"/>
              </a:rPr>
              <a:t> One-time purchase of the premium IoT mood assistant.</a:t>
            </a:r>
            <a:endParaRPr lang="en-US" sz="1600" dirty="0">
              <a:solidFill>
                <a:schemeClr val="bg1"/>
              </a:solidFill>
            </a:endParaRPr>
          </a:p>
        </p:txBody>
      </p:sp>
      <p:sp>
        <p:nvSpPr>
          <p:cNvPr id="11" name="Text 5">
            <a:extLst>
              <a:ext uri="{FF2B5EF4-FFF2-40B4-BE49-F238E27FC236}">
                <a16:creationId xmlns:a16="http://schemas.microsoft.com/office/drawing/2014/main" id="{A53861D8-32E6-AE5B-03B6-23BF9C59BCF9}"/>
              </a:ext>
            </a:extLst>
          </p:cNvPr>
          <p:cNvSpPr/>
          <p:nvPr/>
        </p:nvSpPr>
        <p:spPr>
          <a:xfrm>
            <a:off x="574478" y="4569881"/>
            <a:ext cx="2877978" cy="563880"/>
          </a:xfrm>
          <a:prstGeom prst="rect">
            <a:avLst/>
          </a:prstGeom>
          <a:noFill/>
          <a:ln/>
        </p:spPr>
        <p:txBody>
          <a:bodyPr wrap="square" lIns="0" tIns="0" rIns="0" bIns="0" rtlCol="0" anchor="t"/>
          <a:lstStyle/>
          <a:p>
            <a:pPr marL="342900" indent="-342900" algn="just">
              <a:lnSpc>
                <a:spcPts val="2600"/>
              </a:lnSpc>
              <a:buSzPct val="100000"/>
              <a:buChar char="•"/>
            </a:pPr>
            <a:r>
              <a:rPr lang="en-US" sz="1600" b="1" dirty="0">
                <a:solidFill>
                  <a:schemeClr val="bg1"/>
                </a:solidFill>
                <a:latin typeface="Source Sans 3" pitchFamily="34" charset="0"/>
                <a:ea typeface="Source Sans 3" pitchFamily="34" charset="-122"/>
                <a:cs typeface="Source Sans 3" pitchFamily="34" charset="-120"/>
              </a:rPr>
              <a:t>Subscriptions:</a:t>
            </a:r>
            <a:r>
              <a:rPr lang="en-US" sz="1600" dirty="0">
                <a:solidFill>
                  <a:schemeClr val="bg1"/>
                </a:solidFill>
                <a:latin typeface="Source Sans 3" pitchFamily="34" charset="0"/>
                <a:ea typeface="Source Sans 3" pitchFamily="34" charset="-122"/>
                <a:cs typeface="Source Sans 3" pitchFamily="34" charset="-120"/>
              </a:rPr>
              <a:t> Tiered plans for advanced analytics, cloud data storage, and exclusive AI-driven wellness upgrades.</a:t>
            </a:r>
            <a:endParaRPr lang="en-US" sz="1600" dirty="0">
              <a:solidFill>
                <a:schemeClr val="bg1"/>
              </a:solidFill>
            </a:endParaRPr>
          </a:p>
        </p:txBody>
      </p:sp>
      <p:pic>
        <p:nvPicPr>
          <p:cNvPr id="14" name="Image 1" descr="preencoded.png">
            <a:extLst>
              <a:ext uri="{FF2B5EF4-FFF2-40B4-BE49-F238E27FC236}">
                <a16:creationId xmlns:a16="http://schemas.microsoft.com/office/drawing/2014/main" id="{8CEE1A28-DE3C-48FB-2942-3091FF39FCDD}"/>
              </a:ext>
            </a:extLst>
          </p:cNvPr>
          <p:cNvPicPr>
            <a:picLocks noChangeAspect="1"/>
          </p:cNvPicPr>
          <p:nvPr/>
        </p:nvPicPr>
        <p:blipFill>
          <a:blip r:embed="rId3"/>
          <a:stretch>
            <a:fillRect/>
          </a:stretch>
        </p:blipFill>
        <p:spPr>
          <a:xfrm>
            <a:off x="6805970" y="1385293"/>
            <a:ext cx="188030" cy="235038"/>
          </a:xfrm>
          <a:prstGeom prst="rect">
            <a:avLst/>
          </a:prstGeom>
        </p:spPr>
      </p:pic>
      <p:sp>
        <p:nvSpPr>
          <p:cNvPr id="15" name="Text 8">
            <a:extLst>
              <a:ext uri="{FF2B5EF4-FFF2-40B4-BE49-F238E27FC236}">
                <a16:creationId xmlns:a16="http://schemas.microsoft.com/office/drawing/2014/main" id="{680C002B-9188-E003-09A1-EF2D34FE554F}"/>
              </a:ext>
            </a:extLst>
          </p:cNvPr>
          <p:cNvSpPr/>
          <p:nvPr/>
        </p:nvSpPr>
        <p:spPr>
          <a:xfrm>
            <a:off x="4441046" y="2086483"/>
            <a:ext cx="1644760" cy="129586"/>
          </a:xfrm>
          <a:prstGeom prst="rect">
            <a:avLst/>
          </a:prstGeom>
          <a:noFill/>
          <a:ln/>
        </p:spPr>
        <p:txBody>
          <a:bodyPr wrap="none" lIns="0" tIns="0" rIns="0" bIns="0" rtlCol="0" anchor="t"/>
          <a:lstStyle/>
          <a:p>
            <a:pPr marL="0" indent="0" algn="l">
              <a:lnSpc>
                <a:spcPts val="2350"/>
              </a:lnSpc>
              <a:buNone/>
            </a:pPr>
            <a:r>
              <a:rPr lang="en-US" sz="1900" dirty="0">
                <a:solidFill>
                  <a:schemeClr val="accent3">
                    <a:lumMod val="60000"/>
                    <a:lumOff val="40000"/>
                  </a:schemeClr>
                </a:solidFill>
                <a:latin typeface="Source Serif 4 Semi Bold" pitchFamily="34" charset="0"/>
                <a:ea typeface="Source Serif 4 Semi Bold" pitchFamily="34" charset="-122"/>
                <a:cs typeface="Source Serif 4 Semi Bold" pitchFamily="34" charset="-120"/>
              </a:rPr>
              <a:t>Competitive Advantage</a:t>
            </a:r>
            <a:endParaRPr lang="en-US" sz="1900" dirty="0">
              <a:solidFill>
                <a:schemeClr val="accent3">
                  <a:lumMod val="60000"/>
                  <a:lumOff val="40000"/>
                </a:schemeClr>
              </a:solidFill>
            </a:endParaRPr>
          </a:p>
        </p:txBody>
      </p:sp>
      <p:sp>
        <p:nvSpPr>
          <p:cNvPr id="16" name="Text 9">
            <a:extLst>
              <a:ext uri="{FF2B5EF4-FFF2-40B4-BE49-F238E27FC236}">
                <a16:creationId xmlns:a16="http://schemas.microsoft.com/office/drawing/2014/main" id="{8426B789-A72D-1507-FE24-52572F51B67B}"/>
              </a:ext>
            </a:extLst>
          </p:cNvPr>
          <p:cNvSpPr/>
          <p:nvPr/>
        </p:nvSpPr>
        <p:spPr>
          <a:xfrm>
            <a:off x="4152870" y="2705100"/>
            <a:ext cx="3185190" cy="422910"/>
          </a:xfrm>
          <a:prstGeom prst="rect">
            <a:avLst/>
          </a:prstGeom>
          <a:noFill/>
          <a:ln/>
        </p:spPr>
        <p:txBody>
          <a:bodyPr wrap="square" lIns="0" tIns="0" rIns="0" bIns="0" rtlCol="0" anchor="t"/>
          <a:lstStyle/>
          <a:p>
            <a:pPr marL="342900" indent="-342900" algn="just">
              <a:lnSpc>
                <a:spcPts val="2600"/>
              </a:lnSpc>
              <a:buSzPct val="100000"/>
              <a:buChar char="•"/>
            </a:pPr>
            <a:r>
              <a:rPr lang="en-US" sz="1600" b="1" dirty="0">
                <a:solidFill>
                  <a:schemeClr val="bg1"/>
                </a:solidFill>
                <a:latin typeface="Source Sans 3" pitchFamily="34" charset="0"/>
                <a:ea typeface="Source Sans 3" pitchFamily="34" charset="-122"/>
                <a:cs typeface="Source Sans 3" pitchFamily="34" charset="-120"/>
              </a:rPr>
              <a:t>Always-On Monitoring:</a:t>
            </a:r>
            <a:r>
              <a:rPr lang="en-US" sz="1600" dirty="0">
                <a:solidFill>
                  <a:schemeClr val="bg1"/>
                </a:solidFill>
                <a:latin typeface="Source Sans 3" pitchFamily="34" charset="0"/>
                <a:ea typeface="Source Sans 3" pitchFamily="34" charset="-122"/>
                <a:cs typeface="Source Sans 3" pitchFamily="34" charset="-120"/>
              </a:rPr>
              <a:t> Continuous, passive data collection without requiring active app engagement.</a:t>
            </a:r>
            <a:endParaRPr lang="en-US" sz="1600" dirty="0">
              <a:solidFill>
                <a:schemeClr val="bg1"/>
              </a:solidFill>
            </a:endParaRPr>
          </a:p>
        </p:txBody>
      </p:sp>
      <p:sp>
        <p:nvSpPr>
          <p:cNvPr id="17" name="Text 10">
            <a:extLst>
              <a:ext uri="{FF2B5EF4-FFF2-40B4-BE49-F238E27FC236}">
                <a16:creationId xmlns:a16="http://schemas.microsoft.com/office/drawing/2014/main" id="{58F6EC27-6264-AACB-1605-F59DA9E3B1E5}"/>
              </a:ext>
            </a:extLst>
          </p:cNvPr>
          <p:cNvSpPr/>
          <p:nvPr/>
        </p:nvSpPr>
        <p:spPr>
          <a:xfrm>
            <a:off x="4150149" y="4569881"/>
            <a:ext cx="3185190" cy="422910"/>
          </a:xfrm>
          <a:prstGeom prst="rect">
            <a:avLst/>
          </a:prstGeom>
          <a:noFill/>
          <a:ln/>
        </p:spPr>
        <p:txBody>
          <a:bodyPr wrap="square" lIns="0" tIns="0" rIns="0" bIns="0" rtlCol="0" anchor="t"/>
          <a:lstStyle/>
          <a:p>
            <a:pPr marL="342900" indent="-342900" algn="just">
              <a:lnSpc>
                <a:spcPts val="2600"/>
              </a:lnSpc>
              <a:buSzPct val="100000"/>
              <a:buChar char="•"/>
            </a:pPr>
            <a:r>
              <a:rPr lang="en-US" sz="1600" b="1" dirty="0">
                <a:solidFill>
                  <a:schemeClr val="bg1"/>
                </a:solidFill>
                <a:latin typeface="Source Sans 3" pitchFamily="34" charset="0"/>
                <a:ea typeface="Source Sans 3" pitchFamily="34" charset="-122"/>
                <a:cs typeface="Source Sans 3" pitchFamily="34" charset="-120"/>
              </a:rPr>
              <a:t>Physical Feedback:</a:t>
            </a:r>
            <a:r>
              <a:rPr lang="en-US" sz="1600" dirty="0">
                <a:solidFill>
                  <a:schemeClr val="bg1"/>
                </a:solidFill>
                <a:latin typeface="Source Sans 3" pitchFamily="34" charset="0"/>
                <a:ea typeface="Source Sans 3" pitchFamily="34" charset="-122"/>
                <a:cs typeface="Source Sans 3" pitchFamily="34" charset="-120"/>
              </a:rPr>
              <a:t> Intuitive responses via LEDs, subtle sounds, voice prompts, and direct smart home control.</a:t>
            </a:r>
            <a:endParaRPr lang="en-US" sz="1600" dirty="0">
              <a:solidFill>
                <a:schemeClr val="bg1"/>
              </a:solidFill>
            </a:endParaRPr>
          </a:p>
        </p:txBody>
      </p:sp>
      <p:pic>
        <p:nvPicPr>
          <p:cNvPr id="20" name="Image 2" descr="preencoded.png">
            <a:extLst>
              <a:ext uri="{FF2B5EF4-FFF2-40B4-BE49-F238E27FC236}">
                <a16:creationId xmlns:a16="http://schemas.microsoft.com/office/drawing/2014/main" id="{086A4C11-F904-80D6-221E-BEB0FB3EC2A2}"/>
              </a:ext>
            </a:extLst>
          </p:cNvPr>
          <p:cNvPicPr>
            <a:picLocks noChangeAspect="1"/>
          </p:cNvPicPr>
          <p:nvPr/>
        </p:nvPicPr>
        <p:blipFill>
          <a:blip r:embed="rId4"/>
          <a:stretch>
            <a:fillRect/>
          </a:stretch>
        </p:blipFill>
        <p:spPr>
          <a:xfrm>
            <a:off x="11269861" y="1385293"/>
            <a:ext cx="188030" cy="235038"/>
          </a:xfrm>
          <a:prstGeom prst="rect">
            <a:avLst/>
          </a:prstGeom>
        </p:spPr>
      </p:pic>
      <p:sp>
        <p:nvSpPr>
          <p:cNvPr id="21" name="Text 13">
            <a:extLst>
              <a:ext uri="{FF2B5EF4-FFF2-40B4-BE49-F238E27FC236}">
                <a16:creationId xmlns:a16="http://schemas.microsoft.com/office/drawing/2014/main" id="{C44B52F9-FBCE-1FDD-7AB7-517B3388E308}"/>
              </a:ext>
            </a:extLst>
          </p:cNvPr>
          <p:cNvSpPr/>
          <p:nvPr/>
        </p:nvSpPr>
        <p:spPr>
          <a:xfrm>
            <a:off x="8285934" y="2121867"/>
            <a:ext cx="1502653" cy="129586"/>
          </a:xfrm>
          <a:prstGeom prst="rect">
            <a:avLst/>
          </a:prstGeom>
          <a:noFill/>
          <a:ln/>
        </p:spPr>
        <p:txBody>
          <a:bodyPr wrap="none" lIns="0" tIns="0" rIns="0" bIns="0" rtlCol="0" anchor="t"/>
          <a:lstStyle/>
          <a:p>
            <a:pPr marL="0" indent="0" algn="l">
              <a:lnSpc>
                <a:spcPts val="2350"/>
              </a:lnSpc>
              <a:buNone/>
            </a:pPr>
            <a:r>
              <a:rPr lang="en-US" sz="1900" dirty="0">
                <a:solidFill>
                  <a:schemeClr val="accent3">
                    <a:lumMod val="60000"/>
                    <a:lumOff val="40000"/>
                  </a:schemeClr>
                </a:solidFill>
                <a:latin typeface="Source Serif 4 Semi Bold" pitchFamily="34" charset="0"/>
                <a:ea typeface="Source Serif 4 Semi Bold" pitchFamily="34" charset="-122"/>
                <a:cs typeface="Source Serif 4 Semi Bold" pitchFamily="34" charset="-120"/>
              </a:rPr>
              <a:t>Broad Market Impact</a:t>
            </a:r>
            <a:endParaRPr lang="en-US" sz="1900" dirty="0">
              <a:solidFill>
                <a:schemeClr val="accent3">
                  <a:lumMod val="60000"/>
                  <a:lumOff val="40000"/>
                </a:schemeClr>
              </a:solidFill>
            </a:endParaRPr>
          </a:p>
        </p:txBody>
      </p:sp>
      <p:sp>
        <p:nvSpPr>
          <p:cNvPr id="22" name="Text 14">
            <a:extLst>
              <a:ext uri="{FF2B5EF4-FFF2-40B4-BE49-F238E27FC236}">
                <a16:creationId xmlns:a16="http://schemas.microsoft.com/office/drawing/2014/main" id="{B573CE85-3059-F066-3D35-1DCFB23E39D8}"/>
              </a:ext>
            </a:extLst>
          </p:cNvPr>
          <p:cNvSpPr/>
          <p:nvPr/>
        </p:nvSpPr>
        <p:spPr>
          <a:xfrm>
            <a:off x="8063925" y="2682133"/>
            <a:ext cx="3185190" cy="422910"/>
          </a:xfrm>
          <a:prstGeom prst="rect">
            <a:avLst/>
          </a:prstGeom>
          <a:noFill/>
          <a:ln/>
        </p:spPr>
        <p:txBody>
          <a:bodyPr wrap="square" lIns="0" tIns="0" rIns="0" bIns="0" rtlCol="0" anchor="t"/>
          <a:lstStyle/>
          <a:p>
            <a:pPr marL="342900" indent="-342900" algn="just">
              <a:lnSpc>
                <a:spcPts val="2600"/>
              </a:lnSpc>
              <a:buSzPct val="100000"/>
              <a:buChar char="•"/>
            </a:pPr>
            <a:r>
              <a:rPr lang="en-US" sz="1600" b="1" dirty="0">
                <a:solidFill>
                  <a:schemeClr val="bg1"/>
                </a:solidFill>
                <a:latin typeface="Source Sans 3" pitchFamily="34" charset="0"/>
                <a:ea typeface="Source Sans 3" pitchFamily="34" charset="-122"/>
                <a:cs typeface="Source Sans 3" pitchFamily="34" charset="-120"/>
              </a:rPr>
              <a:t>Students:</a:t>
            </a:r>
            <a:r>
              <a:rPr lang="en-US" sz="1600" dirty="0">
                <a:solidFill>
                  <a:schemeClr val="bg1"/>
                </a:solidFill>
                <a:latin typeface="Source Sans 3" pitchFamily="34" charset="0"/>
                <a:ea typeface="Source Sans 3" pitchFamily="34" charset="-122"/>
                <a:cs typeface="Source Sans 3" pitchFamily="34" charset="-120"/>
              </a:rPr>
              <a:t> Combats procrastination and improves focus with automated, mood-responsive scheduling.</a:t>
            </a:r>
            <a:endParaRPr lang="en-US" sz="1600" dirty="0">
              <a:solidFill>
                <a:schemeClr val="bg1"/>
              </a:solidFill>
            </a:endParaRPr>
          </a:p>
        </p:txBody>
      </p:sp>
      <p:sp>
        <p:nvSpPr>
          <p:cNvPr id="23" name="Text 15">
            <a:extLst>
              <a:ext uri="{FF2B5EF4-FFF2-40B4-BE49-F238E27FC236}">
                <a16:creationId xmlns:a16="http://schemas.microsoft.com/office/drawing/2014/main" id="{D487D75E-A306-6734-AB65-C92B8ABC636B}"/>
              </a:ext>
            </a:extLst>
          </p:cNvPr>
          <p:cNvSpPr/>
          <p:nvPr/>
        </p:nvSpPr>
        <p:spPr>
          <a:xfrm>
            <a:off x="8063925" y="4585227"/>
            <a:ext cx="3185190" cy="422910"/>
          </a:xfrm>
          <a:prstGeom prst="rect">
            <a:avLst/>
          </a:prstGeom>
          <a:noFill/>
          <a:ln/>
        </p:spPr>
        <p:txBody>
          <a:bodyPr wrap="square" lIns="0" tIns="0" rIns="0" bIns="0" rtlCol="0" anchor="t"/>
          <a:lstStyle/>
          <a:p>
            <a:pPr marL="342900" indent="-342900" algn="just">
              <a:lnSpc>
                <a:spcPts val="2600"/>
              </a:lnSpc>
              <a:buSzPct val="100000"/>
              <a:buChar char="•"/>
            </a:pPr>
            <a:r>
              <a:rPr lang="en-US" sz="1600" b="1" dirty="0">
                <a:solidFill>
                  <a:schemeClr val="bg1"/>
                </a:solidFill>
                <a:latin typeface="Source Sans 3" pitchFamily="34" charset="0"/>
                <a:ea typeface="Source Sans 3" pitchFamily="34" charset="-122"/>
                <a:cs typeface="Source Sans 3" pitchFamily="34" charset="-120"/>
              </a:rPr>
              <a:t>Employees:</a:t>
            </a:r>
            <a:r>
              <a:rPr lang="en-US" sz="1600" dirty="0">
                <a:solidFill>
                  <a:schemeClr val="bg1"/>
                </a:solidFill>
                <a:latin typeface="Source Sans 3" pitchFamily="34" charset="0"/>
                <a:ea typeface="Source Sans 3" pitchFamily="34" charset="-122"/>
                <a:cs typeface="Source Sans 3" pitchFamily="34" charset="-120"/>
              </a:rPr>
              <a:t> Reduces burnout by prompting mood-based breaks and fostering a healthier work-life balance.</a:t>
            </a:r>
            <a:endParaRPr lang="en-US" sz="1600" dirty="0">
              <a:solidFill>
                <a:schemeClr val="bg1"/>
              </a:solidFill>
            </a:endParaRPr>
          </a:p>
        </p:txBody>
      </p:sp>
    </p:spTree>
    <p:extLst>
      <p:ext uri="{BB962C8B-B14F-4D97-AF65-F5344CB8AC3E}">
        <p14:creationId xmlns:p14="http://schemas.microsoft.com/office/powerpoint/2010/main" val="2545636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726F1D-0B0A-3047-84B8-BC156D97C91B}"/>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1C1B213A-9855-C40D-C3BC-E6624F269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994962B6-D2F1-2D51-896B-E670810E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1039854B-4EF0-994E-0D7B-A35904EABB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559294"/>
            <a:ext cx="12191999"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DE9C3C4-0AF2-66FD-BB9F-4D7363E39D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0FD362C2-CD77-C4B9-A87E-2E1041D6A40F}"/>
              </a:ext>
            </a:extLst>
          </p:cNvPr>
          <p:cNvSpPr txBox="1"/>
          <p:nvPr/>
        </p:nvSpPr>
        <p:spPr>
          <a:xfrm>
            <a:off x="3913906" y="13537"/>
            <a:ext cx="9947305" cy="1090657"/>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400" b="1">
                <a:solidFill>
                  <a:srgbClr val="FFFFFF"/>
                </a:solidFill>
                <a:latin typeface="+mj-lt"/>
                <a:ea typeface="+mj-ea"/>
                <a:cs typeface="+mj-cs"/>
              </a:rPr>
              <a:t>Block Diagram</a:t>
            </a:r>
            <a:endParaRPr lang="en-US" sz="3400" b="1" dirty="0">
              <a:solidFill>
                <a:srgbClr val="FFFFFF"/>
              </a:solidFill>
              <a:latin typeface="+mj-lt"/>
              <a:ea typeface="+mj-ea"/>
              <a:cs typeface="+mj-cs"/>
            </a:endParaRPr>
          </a:p>
        </p:txBody>
      </p:sp>
      <p:sp>
        <p:nvSpPr>
          <p:cNvPr id="1039" name="Freeform: Shape 1038">
            <a:extLst>
              <a:ext uri="{FF2B5EF4-FFF2-40B4-BE49-F238E27FC236}">
                <a16:creationId xmlns:a16="http://schemas.microsoft.com/office/drawing/2014/main" id="{49E7549E-3DE9-FAE9-8E30-867BAB5AB6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a:extLst>
              <a:ext uri="{FF2B5EF4-FFF2-40B4-BE49-F238E27FC236}">
                <a16:creationId xmlns:a16="http://schemas.microsoft.com/office/drawing/2014/main" id="{BEAA1F64-C08E-93E2-797E-377361DCF504}"/>
              </a:ext>
            </a:extLst>
          </p:cNvPr>
          <p:cNvPicPr>
            <a:picLocks noChangeAspect="1"/>
          </p:cNvPicPr>
          <p:nvPr/>
        </p:nvPicPr>
        <p:blipFill>
          <a:blip r:embed="rId2"/>
          <a:srcRect r="62252"/>
          <a:stretch>
            <a:fillRect/>
          </a:stretch>
        </p:blipFill>
        <p:spPr>
          <a:xfrm>
            <a:off x="1191967" y="247551"/>
            <a:ext cx="4068296" cy="6921764"/>
          </a:xfrm>
          <a:prstGeom prst="rect">
            <a:avLst/>
          </a:prstGeom>
        </p:spPr>
      </p:pic>
      <p:pic>
        <p:nvPicPr>
          <p:cNvPr id="4098" name="Picture 2" descr="Jetson Nano Brings AI Computing to Everyone | NVIDIA Technical Blog">
            <a:extLst>
              <a:ext uri="{FF2B5EF4-FFF2-40B4-BE49-F238E27FC236}">
                <a16:creationId xmlns:a16="http://schemas.microsoft.com/office/drawing/2014/main" id="{B5C7B858-211C-80CF-DF37-7244BC9D96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5756" y="247551"/>
            <a:ext cx="1113017" cy="843106"/>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DA2EF7E3-FB06-E813-4402-AB6AE252F16C}"/>
              </a:ext>
            </a:extLst>
          </p:cNvPr>
          <p:cNvCxnSpPr/>
          <p:nvPr/>
        </p:nvCxnSpPr>
        <p:spPr>
          <a:xfrm flipH="1">
            <a:off x="4034790" y="1090657"/>
            <a:ext cx="80010" cy="34952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 name="Straight Arrow Connector 4">
            <a:extLst>
              <a:ext uri="{FF2B5EF4-FFF2-40B4-BE49-F238E27FC236}">
                <a16:creationId xmlns:a16="http://schemas.microsoft.com/office/drawing/2014/main" id="{7198B2C6-B74F-D3B6-4513-9C3AD148163F}"/>
              </a:ext>
            </a:extLst>
          </p:cNvPr>
          <p:cNvCxnSpPr>
            <a:cxnSpLocks/>
          </p:cNvCxnSpPr>
          <p:nvPr/>
        </p:nvCxnSpPr>
        <p:spPr>
          <a:xfrm>
            <a:off x="4492661" y="1082983"/>
            <a:ext cx="154865" cy="33295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pic>
        <p:nvPicPr>
          <p:cNvPr id="7" name="Picture 6">
            <a:extLst>
              <a:ext uri="{FF2B5EF4-FFF2-40B4-BE49-F238E27FC236}">
                <a16:creationId xmlns:a16="http://schemas.microsoft.com/office/drawing/2014/main" id="{20942764-9A5B-9D67-D000-F3577ADEAE97}"/>
              </a:ext>
            </a:extLst>
          </p:cNvPr>
          <p:cNvPicPr>
            <a:picLocks noChangeAspect="1"/>
          </p:cNvPicPr>
          <p:nvPr/>
        </p:nvPicPr>
        <p:blipFill>
          <a:blip r:embed="rId4"/>
          <a:srcRect l="40685" t="-3256" r="-2358" b="24932"/>
          <a:stretch>
            <a:fillRect/>
          </a:stretch>
        </p:blipFill>
        <p:spPr>
          <a:xfrm>
            <a:off x="6452230" y="808235"/>
            <a:ext cx="5357420" cy="5580647"/>
          </a:xfrm>
          <a:prstGeom prst="rect">
            <a:avLst/>
          </a:prstGeom>
        </p:spPr>
      </p:pic>
      <p:pic>
        <p:nvPicPr>
          <p:cNvPr id="4100" name="Picture 4" descr="Zebronics Peeble 2.0 USB &amp; 3.5MM Jack Multimedia Speaker for Computer and  Mobile use">
            <a:extLst>
              <a:ext uri="{FF2B5EF4-FFF2-40B4-BE49-F238E27FC236}">
                <a16:creationId xmlns:a16="http://schemas.microsoft.com/office/drawing/2014/main" id="{1884A0C3-B5D5-4E24-6BAC-C9CDA5A54AC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093" t="19316" r="1696" b="17368"/>
          <a:stretch>
            <a:fillRect/>
          </a:stretch>
        </p:blipFill>
        <p:spPr bwMode="auto">
          <a:xfrm>
            <a:off x="11000028" y="4596062"/>
            <a:ext cx="984630" cy="66173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D96B8AF-F03B-D7E0-8CDA-6164F9649FE9}"/>
              </a:ext>
            </a:extLst>
          </p:cNvPr>
          <p:cNvSpPr txBox="1"/>
          <p:nvPr/>
        </p:nvSpPr>
        <p:spPr>
          <a:xfrm>
            <a:off x="10995251" y="5325246"/>
            <a:ext cx="994183" cy="261610"/>
          </a:xfrm>
          <a:prstGeom prst="rect">
            <a:avLst/>
          </a:prstGeom>
          <a:noFill/>
        </p:spPr>
        <p:txBody>
          <a:bodyPr wrap="none" rtlCol="0">
            <a:spAutoFit/>
          </a:bodyPr>
          <a:lstStyle/>
          <a:p>
            <a:r>
              <a:rPr lang="en-US" sz="1100" dirty="0">
                <a:solidFill>
                  <a:schemeClr val="bg1"/>
                </a:solidFill>
              </a:rPr>
              <a:t>Audio Output</a:t>
            </a:r>
          </a:p>
        </p:txBody>
      </p:sp>
    </p:spTree>
    <p:extLst>
      <p:ext uri="{BB962C8B-B14F-4D97-AF65-F5344CB8AC3E}">
        <p14:creationId xmlns:p14="http://schemas.microsoft.com/office/powerpoint/2010/main" val="494369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7ABB36-DEDB-9194-1142-4E7E1D3AB192}"/>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0552C956-70A3-3D13-7012-ECC4B9A55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462A9FDF-804B-B36C-DDC5-672916A92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3D392F72-E235-2DD6-BB6B-2B1FD56812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559294"/>
            <a:ext cx="12191999"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12C81D21-6663-0BA8-EF5F-FD49E1378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9" name="Freeform: Shape 1038">
            <a:extLst>
              <a:ext uri="{FF2B5EF4-FFF2-40B4-BE49-F238E27FC236}">
                <a16:creationId xmlns:a16="http://schemas.microsoft.com/office/drawing/2014/main" id="{1DB65916-320C-E92F-CBC3-36C5EF806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2" name="Table 1">
            <a:extLst>
              <a:ext uri="{FF2B5EF4-FFF2-40B4-BE49-F238E27FC236}">
                <a16:creationId xmlns:a16="http://schemas.microsoft.com/office/drawing/2014/main" id="{25DA260A-35F2-323E-614F-5F642BC4A8BF}"/>
              </a:ext>
            </a:extLst>
          </p:cNvPr>
          <p:cNvGraphicFramePr>
            <a:graphicFrameLocks noGrp="1"/>
          </p:cNvGraphicFramePr>
          <p:nvPr>
            <p:extLst>
              <p:ext uri="{D42A27DB-BD31-4B8C-83A1-F6EECF244321}">
                <p14:modId xmlns:p14="http://schemas.microsoft.com/office/powerpoint/2010/main" val="2081014394"/>
              </p:ext>
            </p:extLst>
          </p:nvPr>
        </p:nvGraphicFramePr>
        <p:xfrm>
          <a:off x="289056" y="218993"/>
          <a:ext cx="11613881" cy="6419157"/>
        </p:xfrm>
        <a:graphic>
          <a:graphicData uri="http://schemas.openxmlformats.org/drawingml/2006/table">
            <a:tbl>
              <a:tblPr>
                <a:noFill/>
              </a:tblPr>
              <a:tblGrid>
                <a:gridCol w="519320">
                  <a:extLst>
                    <a:ext uri="{9D8B030D-6E8A-4147-A177-3AD203B41FA5}">
                      <a16:colId xmlns:a16="http://schemas.microsoft.com/office/drawing/2014/main" val="1973859976"/>
                    </a:ext>
                  </a:extLst>
                </a:gridCol>
                <a:gridCol w="2577714">
                  <a:extLst>
                    <a:ext uri="{9D8B030D-6E8A-4147-A177-3AD203B41FA5}">
                      <a16:colId xmlns:a16="http://schemas.microsoft.com/office/drawing/2014/main" val="3971380165"/>
                    </a:ext>
                  </a:extLst>
                </a:gridCol>
                <a:gridCol w="1642940">
                  <a:extLst>
                    <a:ext uri="{9D8B030D-6E8A-4147-A177-3AD203B41FA5}">
                      <a16:colId xmlns:a16="http://schemas.microsoft.com/office/drawing/2014/main" val="4237145977"/>
                    </a:ext>
                  </a:extLst>
                </a:gridCol>
                <a:gridCol w="2020627">
                  <a:extLst>
                    <a:ext uri="{9D8B030D-6E8A-4147-A177-3AD203B41FA5}">
                      <a16:colId xmlns:a16="http://schemas.microsoft.com/office/drawing/2014/main" val="4115528072"/>
                    </a:ext>
                  </a:extLst>
                </a:gridCol>
                <a:gridCol w="868680">
                  <a:extLst>
                    <a:ext uri="{9D8B030D-6E8A-4147-A177-3AD203B41FA5}">
                      <a16:colId xmlns:a16="http://schemas.microsoft.com/office/drawing/2014/main" val="854298679"/>
                    </a:ext>
                  </a:extLst>
                </a:gridCol>
                <a:gridCol w="3984600">
                  <a:extLst>
                    <a:ext uri="{9D8B030D-6E8A-4147-A177-3AD203B41FA5}">
                      <a16:colId xmlns:a16="http://schemas.microsoft.com/office/drawing/2014/main" val="3802180578"/>
                    </a:ext>
                  </a:extLst>
                </a:gridCol>
              </a:tblGrid>
              <a:tr h="771338">
                <a:tc>
                  <a:txBody>
                    <a:bodyPr/>
                    <a:lstStyle/>
                    <a:p>
                      <a:pPr rtl="0" fontAlgn="t">
                        <a:buNone/>
                      </a:pPr>
                      <a:r>
                        <a:rPr lang="en-US" sz="1300" b="1" i="0" u="none" strike="noStrike" dirty="0">
                          <a:ln>
                            <a:solidFill>
                              <a:schemeClr val="bg1"/>
                            </a:solidFill>
                          </a:ln>
                          <a:solidFill>
                            <a:schemeClr val="bg1"/>
                          </a:solidFill>
                          <a:effectLst/>
                          <a:latin typeface="Asap" pitchFamily="2" charset="77"/>
                        </a:rPr>
                        <a:t>SR. </a:t>
                      </a:r>
                      <a:endParaRPr lang="en-US" sz="1300" dirty="0">
                        <a:ln>
                          <a:solidFill>
                            <a:schemeClr val="bg1"/>
                          </a:solidFill>
                        </a:ln>
                        <a:solidFill>
                          <a:schemeClr val="bg1"/>
                        </a:solidFill>
                        <a:effectLst/>
                      </a:endParaRPr>
                    </a:p>
                    <a:p>
                      <a:pPr rtl="0" fontAlgn="t">
                        <a:buNone/>
                      </a:pPr>
                      <a:r>
                        <a:rPr lang="en-US" sz="1300" b="1" i="0" u="none" strike="noStrike" dirty="0">
                          <a:ln>
                            <a:solidFill>
                              <a:schemeClr val="bg1"/>
                            </a:solidFill>
                          </a:ln>
                          <a:solidFill>
                            <a:schemeClr val="bg1"/>
                          </a:solidFill>
                          <a:effectLst/>
                          <a:latin typeface="Asap" pitchFamily="2" charset="77"/>
                        </a:rPr>
                        <a:t>NO</a:t>
                      </a:r>
                      <a:endParaRPr lang="en-US" sz="1300" dirty="0">
                        <a:ln>
                          <a:solidFill>
                            <a:schemeClr val="bg1"/>
                          </a:solidFill>
                        </a:ln>
                        <a:solidFill>
                          <a:schemeClr val="bg1"/>
                        </a:solidFill>
                        <a:effectLst/>
                      </a:endParaRPr>
                    </a:p>
                  </a:txBody>
                  <a:tcPr marL="74154" marR="74154" marT="74154" marB="74154">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US" sz="1300" b="1" i="0" u="none" strike="noStrike" dirty="0">
                          <a:ln>
                            <a:solidFill>
                              <a:schemeClr val="bg1"/>
                            </a:solidFill>
                          </a:ln>
                          <a:solidFill>
                            <a:schemeClr val="bg1"/>
                          </a:solidFill>
                          <a:effectLst/>
                          <a:latin typeface="Asap" pitchFamily="2" charset="77"/>
                        </a:rPr>
                        <a:t>Title of Research Paper</a:t>
                      </a:r>
                      <a:endParaRPr lang="en-US" sz="13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US" sz="1300" b="1" i="0" u="none" strike="noStrike" dirty="0">
                          <a:ln>
                            <a:solidFill>
                              <a:schemeClr val="bg1"/>
                            </a:solidFill>
                          </a:ln>
                          <a:solidFill>
                            <a:schemeClr val="bg1"/>
                          </a:solidFill>
                          <a:effectLst/>
                          <a:latin typeface="Asap" pitchFamily="2" charset="77"/>
                        </a:rPr>
                        <a:t>Authors</a:t>
                      </a:r>
                      <a:endParaRPr lang="en-US" sz="13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US" sz="1300" b="1" i="0" u="none" strike="noStrike" dirty="0">
                          <a:ln>
                            <a:solidFill>
                              <a:schemeClr val="bg1"/>
                            </a:solidFill>
                          </a:ln>
                          <a:solidFill>
                            <a:schemeClr val="bg1"/>
                          </a:solidFill>
                          <a:effectLst/>
                          <a:latin typeface="Asap" pitchFamily="2" charset="77"/>
                        </a:rPr>
                        <a:t>Name of Journal/ Conference</a:t>
                      </a:r>
                      <a:endParaRPr lang="en-US" sz="13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US" sz="1300" b="1" i="0" u="none" strike="noStrike" dirty="0">
                          <a:ln>
                            <a:solidFill>
                              <a:schemeClr val="bg1"/>
                            </a:solidFill>
                          </a:ln>
                          <a:solidFill>
                            <a:schemeClr val="bg1"/>
                          </a:solidFill>
                          <a:effectLst/>
                          <a:latin typeface="Asap" pitchFamily="2" charset="77"/>
                        </a:rPr>
                        <a:t>Date of Pub.</a:t>
                      </a:r>
                      <a:endParaRPr lang="en-US" sz="13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US" sz="1300" b="1" i="0" u="none" strike="noStrike" dirty="0">
                          <a:ln>
                            <a:solidFill>
                              <a:schemeClr val="bg1"/>
                            </a:solidFill>
                          </a:ln>
                          <a:solidFill>
                            <a:schemeClr val="bg1"/>
                          </a:solidFill>
                          <a:effectLst/>
                          <a:latin typeface="Asap" pitchFamily="2" charset="77"/>
                        </a:rPr>
                        <a:t>Summary</a:t>
                      </a:r>
                      <a:endParaRPr lang="en-US" sz="13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2384762"/>
                  </a:ext>
                </a:extLst>
              </a:tr>
              <a:tr h="2429062">
                <a:tc>
                  <a:txBody>
                    <a:bodyPr/>
                    <a:lstStyle/>
                    <a:p>
                      <a:pPr fontAlgn="t">
                        <a:buNone/>
                      </a:pPr>
                      <a:r>
                        <a:rPr lang="en-US" sz="1400" dirty="0">
                          <a:ln>
                            <a:solidFill>
                              <a:schemeClr val="bg1"/>
                            </a:solidFill>
                          </a:ln>
                          <a:solidFill>
                            <a:schemeClr val="bg1"/>
                          </a:solidFill>
                          <a:effectLst/>
                        </a:rPr>
                        <a:t> 1</a:t>
                      </a:r>
                    </a:p>
                  </a:txBody>
                  <a:tcPr marL="74154" marR="74154" marT="74154" marB="74154">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500" b="0" i="0" kern="1200" dirty="0">
                          <a:solidFill>
                            <a:schemeClr val="bg1"/>
                          </a:solidFill>
                          <a:effectLst/>
                          <a:latin typeface="+mn-lt"/>
                          <a:ea typeface="+mn-ea"/>
                          <a:cs typeface="+mn-cs"/>
                        </a:rPr>
                        <a:t>Improve Learner-based Recommender System with Learner’s Mood in Online Learning Platform</a:t>
                      </a:r>
                    </a:p>
                    <a:p>
                      <a:pPr fontAlgn="t">
                        <a:buNone/>
                      </a:pPr>
                      <a:endParaRPr lang="en-US" sz="15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500" dirty="0">
                          <a:ln>
                            <a:solidFill>
                              <a:schemeClr val="bg1"/>
                            </a:solidFill>
                          </a:ln>
                          <a:solidFill>
                            <a:schemeClr val="bg1"/>
                          </a:solidFill>
                          <a:effectLst/>
                        </a:rPr>
                        <a:t> </a:t>
                      </a:r>
                      <a:r>
                        <a:rPr lang="en-US" sz="1500" b="0" i="0" u="none" strike="noStrike" kern="1200" dirty="0">
                          <a:solidFill>
                            <a:schemeClr val="bg1"/>
                          </a:solidFill>
                          <a:effectLst/>
                          <a:latin typeface="+mn-lt"/>
                          <a:ea typeface="+mn-ea"/>
                          <a:cs typeface="+mn-cs"/>
                          <a:hlinkClick r:id="rId2">
                            <a:extLst>
                              <a:ext uri="{A12FA001-AC4F-418D-AE19-62706E023703}">
                                <ahyp:hlinkClr xmlns:ahyp="http://schemas.microsoft.com/office/drawing/2018/hyperlinkcolor" val="tx"/>
                              </a:ext>
                            </a:extLst>
                          </a:hlinkClick>
                        </a:rPr>
                        <a:t>Qing Tang</a:t>
                      </a:r>
                      <a:endParaRPr lang="en-US" sz="1500" b="0" i="0" u="none" kern="1200" dirty="0">
                        <a:solidFill>
                          <a:schemeClr val="bg1"/>
                        </a:solidFill>
                        <a:effectLst/>
                        <a:latin typeface="+mn-lt"/>
                        <a:ea typeface="+mn-ea"/>
                        <a:cs typeface="+mn-cs"/>
                      </a:endParaRPr>
                    </a:p>
                    <a:p>
                      <a:r>
                        <a:rPr lang="en-US" sz="1500" b="0" i="0" u="none" strike="noStrike" kern="1200" dirty="0">
                          <a:solidFill>
                            <a:schemeClr val="bg1"/>
                          </a:solidFill>
                          <a:effectLst/>
                          <a:latin typeface="+mn-lt"/>
                          <a:ea typeface="+mn-ea"/>
                          <a:cs typeface="+mn-cs"/>
                          <a:hlinkClick r:id="rId3">
                            <a:extLst>
                              <a:ext uri="{A12FA001-AC4F-418D-AE19-62706E023703}">
                                <ahyp:hlinkClr xmlns:ahyp="http://schemas.microsoft.com/office/drawing/2018/hyperlinkcolor" val="tx"/>
                              </a:ext>
                            </a:extLst>
                          </a:hlinkClick>
                        </a:rPr>
                        <a:t>Marie-Hélène Abel</a:t>
                      </a:r>
                      <a:endParaRPr lang="en-US" sz="1500" b="0" i="0" u="none" kern="1200" dirty="0">
                        <a:solidFill>
                          <a:schemeClr val="bg1"/>
                        </a:solidFill>
                        <a:effectLst/>
                        <a:latin typeface="+mn-lt"/>
                        <a:ea typeface="+mn-ea"/>
                        <a:cs typeface="+mn-cs"/>
                      </a:endParaRPr>
                    </a:p>
                    <a:p>
                      <a:pPr fontAlgn="t">
                        <a:buNone/>
                      </a:pPr>
                      <a:endParaRPr lang="en-US" sz="15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buNone/>
                      </a:pPr>
                      <a:r>
                        <a:rPr lang="en-US" sz="1500" dirty="0">
                          <a:ln>
                            <a:solidFill>
                              <a:schemeClr val="bg1"/>
                            </a:solidFill>
                          </a:ln>
                          <a:solidFill>
                            <a:schemeClr val="bg1"/>
                          </a:solidFill>
                          <a:effectLst/>
                        </a:rPr>
                        <a:t> IEEE</a:t>
                      </a: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buNone/>
                      </a:pPr>
                      <a:r>
                        <a:rPr lang="en-US" sz="1500" dirty="0">
                          <a:ln>
                            <a:solidFill>
                              <a:schemeClr val="bg1"/>
                            </a:solidFill>
                          </a:ln>
                          <a:solidFill>
                            <a:schemeClr val="bg1"/>
                          </a:solidFill>
                          <a:effectLst/>
                        </a:rPr>
                        <a:t> 2021</a:t>
                      </a: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t">
                        <a:buNone/>
                      </a:pPr>
                      <a:r>
                        <a:rPr lang="en-US" sz="1500" dirty="0">
                          <a:solidFill>
                            <a:schemeClr val="bg1"/>
                          </a:solidFill>
                        </a:rPr>
                        <a:t>Recommender systems address issue of scattered information by suggesting personalized content. The proposed system enhances recommendations by considering not only learners’ attributes (e.g., style, ability, knowledge) but also their </a:t>
                      </a:r>
                      <a:r>
                        <a:rPr lang="en-US" sz="1500" b="1" dirty="0">
                          <a:solidFill>
                            <a:schemeClr val="bg1"/>
                          </a:solidFill>
                        </a:rPr>
                        <a:t>mood</a:t>
                      </a:r>
                      <a:r>
                        <a:rPr lang="en-US" sz="1500" dirty="0">
                          <a:solidFill>
                            <a:schemeClr val="bg1"/>
                          </a:solidFill>
                        </a:rPr>
                        <a:t>, adapting strategies dynamically to improve accuracy, relevance, and interpretability.</a:t>
                      </a:r>
                      <a:endParaRPr lang="en-US" sz="15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6006205"/>
                  </a:ext>
                </a:extLst>
              </a:tr>
              <a:tr h="3218757">
                <a:tc>
                  <a:txBody>
                    <a:bodyPr/>
                    <a:lstStyle/>
                    <a:p>
                      <a:pPr fontAlgn="t">
                        <a:buNone/>
                      </a:pPr>
                      <a:r>
                        <a:rPr lang="en-US" sz="1400" dirty="0">
                          <a:ln>
                            <a:solidFill>
                              <a:schemeClr val="bg1"/>
                            </a:solidFill>
                          </a:ln>
                          <a:solidFill>
                            <a:schemeClr val="bg1"/>
                          </a:solidFill>
                          <a:effectLst/>
                        </a:rPr>
                        <a:t> 2</a:t>
                      </a:r>
                    </a:p>
                  </a:txBody>
                  <a:tcPr marL="74154" marR="74154" marT="74154" marB="74154">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500" dirty="0">
                          <a:ln>
                            <a:solidFill>
                              <a:schemeClr val="bg1"/>
                            </a:solidFill>
                          </a:ln>
                          <a:solidFill>
                            <a:schemeClr val="bg1"/>
                          </a:solidFill>
                          <a:effectLst/>
                        </a:rPr>
                        <a:t> </a:t>
                      </a:r>
                      <a:r>
                        <a:rPr lang="en-US" sz="1500" b="1" i="0" kern="1200" dirty="0">
                          <a:solidFill>
                            <a:schemeClr val="bg1"/>
                          </a:solidFill>
                          <a:effectLst/>
                          <a:latin typeface="+mn-lt"/>
                          <a:ea typeface="+mn-ea"/>
                          <a:cs typeface="+mn-cs"/>
                        </a:rPr>
                        <a:t>The Impact of Positive Mood on Learning</a:t>
                      </a:r>
                    </a:p>
                    <a:p>
                      <a:pPr fontAlgn="t">
                        <a:buNone/>
                      </a:pPr>
                      <a:endParaRPr lang="en-US" sz="15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buNone/>
                      </a:pPr>
                      <a:r>
                        <a:rPr lang="en-US" sz="1500" dirty="0">
                          <a:ln>
                            <a:solidFill>
                              <a:schemeClr val="bg1"/>
                            </a:solidFill>
                          </a:ln>
                          <a:solidFill>
                            <a:schemeClr val="bg1"/>
                          </a:solidFill>
                          <a:effectLst/>
                        </a:rPr>
                        <a:t> </a:t>
                      </a:r>
                      <a:r>
                        <a:rPr lang="en-US" sz="1500" b="0" i="0" u="sng" kern="1200" dirty="0">
                          <a:solidFill>
                            <a:schemeClr val="bg1"/>
                          </a:solidFill>
                          <a:effectLst/>
                          <a:latin typeface="+mn-lt"/>
                          <a:ea typeface="+mn-ea"/>
                          <a:cs typeface="+mn-cs"/>
                          <a:hlinkClick r:id="rId4">
                            <a:extLst>
                              <a:ext uri="{A12FA001-AC4F-418D-AE19-62706E023703}">
                                <ahyp:hlinkClr xmlns:ahyp="http://schemas.microsoft.com/office/drawing/2018/hyperlinkcolor" val="tx"/>
                              </a:ext>
                            </a:extLst>
                          </a:hlinkClick>
                        </a:rPr>
                        <a:t>Dr. Tanis Bryan, Ph.D.</a:t>
                      </a:r>
                      <a:r>
                        <a:rPr lang="en-US" sz="1500" b="0" i="0" kern="1200" dirty="0">
                          <a:solidFill>
                            <a:schemeClr val="bg1"/>
                          </a:solidFill>
                          <a:effectLst/>
                          <a:latin typeface="+mn-lt"/>
                          <a:ea typeface="+mn-ea"/>
                          <a:cs typeface="+mn-cs"/>
                        </a:rPr>
                        <a:t>, </a:t>
                      </a:r>
                      <a:r>
                        <a:rPr lang="en-US" sz="1500" b="0" i="0" u="sng" kern="1200" dirty="0">
                          <a:solidFill>
                            <a:schemeClr val="bg1"/>
                          </a:solidFill>
                          <a:effectLst/>
                          <a:latin typeface="+mn-lt"/>
                          <a:ea typeface="+mn-ea"/>
                          <a:cs typeface="+mn-cs"/>
                          <a:hlinkClick r:id="rId5">
                            <a:extLst>
                              <a:ext uri="{A12FA001-AC4F-418D-AE19-62706E023703}">
                                <ahyp:hlinkClr xmlns:ahyp="http://schemas.microsoft.com/office/drawing/2018/hyperlinkcolor" val="tx"/>
                              </a:ext>
                            </a:extLst>
                          </a:hlinkClick>
                        </a:rPr>
                        <a:t>Sarup Mathur, Ph.D.</a:t>
                      </a:r>
                      <a:r>
                        <a:rPr lang="en-US" sz="1500" b="0" i="0" kern="1200" dirty="0">
                          <a:solidFill>
                            <a:schemeClr val="bg1"/>
                          </a:solidFill>
                          <a:effectLst/>
                          <a:latin typeface="+mn-lt"/>
                          <a:ea typeface="+mn-ea"/>
                          <a:cs typeface="+mn-cs"/>
                        </a:rPr>
                        <a:t>, and </a:t>
                      </a:r>
                      <a:r>
                        <a:rPr lang="en-US" sz="1500" b="0" i="0" u="sng" kern="1200" dirty="0">
                          <a:solidFill>
                            <a:schemeClr val="bg1"/>
                          </a:solidFill>
                          <a:effectLst/>
                          <a:latin typeface="+mn-lt"/>
                          <a:ea typeface="+mn-ea"/>
                          <a:cs typeface="+mn-cs"/>
                          <a:hlinkClick r:id="rId6">
                            <a:extLst>
                              <a:ext uri="{A12FA001-AC4F-418D-AE19-62706E023703}">
                                <ahyp:hlinkClr xmlns:ahyp="http://schemas.microsoft.com/office/drawing/2018/hyperlinkcolor" val="tx"/>
                              </a:ext>
                            </a:extLst>
                          </a:hlinkClick>
                        </a:rPr>
                        <a:t>Karen Sullivan</a:t>
                      </a:r>
                      <a:endParaRPr lang="en-US" sz="15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buNone/>
                      </a:pPr>
                      <a:r>
                        <a:rPr lang="en-US" sz="1500" dirty="0">
                          <a:ln>
                            <a:solidFill>
                              <a:schemeClr val="bg1"/>
                            </a:solidFill>
                          </a:ln>
                          <a:solidFill>
                            <a:schemeClr val="bg1"/>
                          </a:solidFill>
                          <a:effectLst/>
                        </a:rPr>
                        <a:t> Sage Journal</a:t>
                      </a: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buNone/>
                      </a:pPr>
                      <a:r>
                        <a:rPr lang="en-US" sz="1500" dirty="0">
                          <a:ln>
                            <a:solidFill>
                              <a:schemeClr val="bg1"/>
                            </a:solidFill>
                          </a:ln>
                          <a:solidFill>
                            <a:schemeClr val="bg1"/>
                          </a:solidFill>
                          <a:effectLst/>
                        </a:rPr>
                        <a:t> 1996</a:t>
                      </a: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t">
                        <a:buNone/>
                      </a:pPr>
                      <a:r>
                        <a:rPr lang="en-US" sz="1500" dirty="0">
                          <a:solidFill>
                            <a:schemeClr val="bg1"/>
                          </a:solidFill>
                        </a:rPr>
                        <a:t>This study examined how a brief positive mood induction affects early reading acquisition and its durability over two weeks. Results showed that while both groups in the positive condition outperformed the neutral group (not statistically significant overall), students with learning disabilities showed </a:t>
                      </a:r>
                      <a:r>
                        <a:rPr lang="en-US" sz="1500" b="1" dirty="0">
                          <a:solidFill>
                            <a:schemeClr val="bg1"/>
                          </a:solidFill>
                        </a:rPr>
                        <a:t>significant long-term gains</a:t>
                      </a:r>
                      <a:r>
                        <a:rPr lang="en-US" sz="1500" dirty="0">
                          <a:solidFill>
                            <a:schemeClr val="bg1"/>
                          </a:solidFill>
                        </a:rPr>
                        <a:t> when learning in a positive mood.</a:t>
                      </a:r>
                      <a:endParaRPr lang="en-US" sz="15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2017170"/>
                  </a:ext>
                </a:extLst>
              </a:tr>
            </a:tbl>
          </a:graphicData>
        </a:graphic>
      </p:graphicFrame>
      <p:sp>
        <p:nvSpPr>
          <p:cNvPr id="3" name="Rectangle 1">
            <a:extLst>
              <a:ext uri="{FF2B5EF4-FFF2-40B4-BE49-F238E27FC236}">
                <a16:creationId xmlns:a16="http://schemas.microsoft.com/office/drawing/2014/main" id="{F2383EE7-44AA-BE26-9128-B2D969AB20E0}"/>
              </a:ext>
            </a:extLst>
          </p:cNvPr>
          <p:cNvSpPr>
            <a:spLocks noChangeArrowheads="1"/>
          </p:cNvSpPr>
          <p:nvPr/>
        </p:nvSpPr>
        <p:spPr bwMode="auto">
          <a:xfrm>
            <a:off x="1535113" y="18240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78644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34D704-9686-764F-0259-CE37E0358206}"/>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06EEEFA-3F0D-8DF9-D789-EFC7A6BBE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6B553090-2110-E210-5843-030BF18E9C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C56A3E78-5E2A-AC4D-0305-7530641E4F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559294"/>
            <a:ext cx="12191999"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D9A8AC1C-2EE5-1197-EA83-1FD34D792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9" name="Freeform: Shape 1038">
            <a:extLst>
              <a:ext uri="{FF2B5EF4-FFF2-40B4-BE49-F238E27FC236}">
                <a16:creationId xmlns:a16="http://schemas.microsoft.com/office/drawing/2014/main" id="{C37E99E4-7025-4072-D8F3-9EABFE101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2" name="Table 1">
            <a:extLst>
              <a:ext uri="{FF2B5EF4-FFF2-40B4-BE49-F238E27FC236}">
                <a16:creationId xmlns:a16="http://schemas.microsoft.com/office/drawing/2014/main" id="{E3C475A0-3781-2AE3-1DDB-AFCD4AE01B8E}"/>
              </a:ext>
            </a:extLst>
          </p:cNvPr>
          <p:cNvGraphicFramePr>
            <a:graphicFrameLocks noGrp="1"/>
          </p:cNvGraphicFramePr>
          <p:nvPr>
            <p:extLst>
              <p:ext uri="{D42A27DB-BD31-4B8C-83A1-F6EECF244321}">
                <p14:modId xmlns:p14="http://schemas.microsoft.com/office/powerpoint/2010/main" val="2837281980"/>
              </p:ext>
            </p:extLst>
          </p:nvPr>
        </p:nvGraphicFramePr>
        <p:xfrm>
          <a:off x="319039" y="297180"/>
          <a:ext cx="11613881" cy="6419157"/>
        </p:xfrm>
        <a:graphic>
          <a:graphicData uri="http://schemas.openxmlformats.org/drawingml/2006/table">
            <a:tbl>
              <a:tblPr>
                <a:noFill/>
              </a:tblPr>
              <a:tblGrid>
                <a:gridCol w="519320">
                  <a:extLst>
                    <a:ext uri="{9D8B030D-6E8A-4147-A177-3AD203B41FA5}">
                      <a16:colId xmlns:a16="http://schemas.microsoft.com/office/drawing/2014/main" val="1973859976"/>
                    </a:ext>
                  </a:extLst>
                </a:gridCol>
                <a:gridCol w="2577714">
                  <a:extLst>
                    <a:ext uri="{9D8B030D-6E8A-4147-A177-3AD203B41FA5}">
                      <a16:colId xmlns:a16="http://schemas.microsoft.com/office/drawing/2014/main" val="3971380165"/>
                    </a:ext>
                  </a:extLst>
                </a:gridCol>
                <a:gridCol w="1642940">
                  <a:extLst>
                    <a:ext uri="{9D8B030D-6E8A-4147-A177-3AD203B41FA5}">
                      <a16:colId xmlns:a16="http://schemas.microsoft.com/office/drawing/2014/main" val="4237145977"/>
                    </a:ext>
                  </a:extLst>
                </a:gridCol>
                <a:gridCol w="2020627">
                  <a:extLst>
                    <a:ext uri="{9D8B030D-6E8A-4147-A177-3AD203B41FA5}">
                      <a16:colId xmlns:a16="http://schemas.microsoft.com/office/drawing/2014/main" val="4115528072"/>
                    </a:ext>
                  </a:extLst>
                </a:gridCol>
                <a:gridCol w="864210">
                  <a:extLst>
                    <a:ext uri="{9D8B030D-6E8A-4147-A177-3AD203B41FA5}">
                      <a16:colId xmlns:a16="http://schemas.microsoft.com/office/drawing/2014/main" val="854298679"/>
                    </a:ext>
                  </a:extLst>
                </a:gridCol>
                <a:gridCol w="3989070">
                  <a:extLst>
                    <a:ext uri="{9D8B030D-6E8A-4147-A177-3AD203B41FA5}">
                      <a16:colId xmlns:a16="http://schemas.microsoft.com/office/drawing/2014/main" val="3802180578"/>
                    </a:ext>
                  </a:extLst>
                </a:gridCol>
              </a:tblGrid>
              <a:tr h="771338">
                <a:tc>
                  <a:txBody>
                    <a:bodyPr/>
                    <a:lstStyle/>
                    <a:p>
                      <a:pPr rtl="0" fontAlgn="t">
                        <a:buNone/>
                      </a:pPr>
                      <a:r>
                        <a:rPr lang="en-US" sz="1300" b="1" i="0" u="none" strike="noStrike" dirty="0">
                          <a:ln>
                            <a:solidFill>
                              <a:schemeClr val="bg1"/>
                            </a:solidFill>
                          </a:ln>
                          <a:solidFill>
                            <a:schemeClr val="bg1"/>
                          </a:solidFill>
                          <a:effectLst/>
                          <a:latin typeface="Asap" pitchFamily="2" charset="77"/>
                        </a:rPr>
                        <a:t>SR. </a:t>
                      </a:r>
                      <a:endParaRPr lang="en-US" sz="1300" dirty="0">
                        <a:ln>
                          <a:solidFill>
                            <a:schemeClr val="bg1"/>
                          </a:solidFill>
                        </a:ln>
                        <a:solidFill>
                          <a:schemeClr val="bg1"/>
                        </a:solidFill>
                        <a:effectLst/>
                      </a:endParaRPr>
                    </a:p>
                    <a:p>
                      <a:pPr rtl="0" fontAlgn="t">
                        <a:buNone/>
                      </a:pPr>
                      <a:r>
                        <a:rPr lang="en-US" sz="1300" b="1" i="0" u="none" strike="noStrike" dirty="0">
                          <a:ln>
                            <a:solidFill>
                              <a:schemeClr val="bg1"/>
                            </a:solidFill>
                          </a:ln>
                          <a:solidFill>
                            <a:schemeClr val="bg1"/>
                          </a:solidFill>
                          <a:effectLst/>
                          <a:latin typeface="Asap" pitchFamily="2" charset="77"/>
                        </a:rPr>
                        <a:t>NO</a:t>
                      </a:r>
                      <a:endParaRPr lang="en-US" sz="1300" dirty="0">
                        <a:ln>
                          <a:solidFill>
                            <a:schemeClr val="bg1"/>
                          </a:solidFill>
                        </a:ln>
                        <a:solidFill>
                          <a:schemeClr val="bg1"/>
                        </a:solidFill>
                        <a:effectLst/>
                      </a:endParaRPr>
                    </a:p>
                  </a:txBody>
                  <a:tcPr marL="74154" marR="74154" marT="74154" marB="74154">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US" sz="1300" b="1" i="0" u="none" strike="noStrike" dirty="0">
                          <a:ln>
                            <a:solidFill>
                              <a:schemeClr val="bg1"/>
                            </a:solidFill>
                          </a:ln>
                          <a:solidFill>
                            <a:schemeClr val="bg1"/>
                          </a:solidFill>
                          <a:effectLst/>
                          <a:latin typeface="Asap" pitchFamily="2" charset="77"/>
                        </a:rPr>
                        <a:t>Title of Research Paper</a:t>
                      </a:r>
                      <a:endParaRPr lang="en-US" sz="13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US" sz="1300" b="1" i="0" u="none" strike="noStrike" dirty="0">
                          <a:ln>
                            <a:solidFill>
                              <a:schemeClr val="bg1"/>
                            </a:solidFill>
                          </a:ln>
                          <a:solidFill>
                            <a:schemeClr val="bg1"/>
                          </a:solidFill>
                          <a:effectLst/>
                          <a:latin typeface="Asap" pitchFamily="2" charset="77"/>
                        </a:rPr>
                        <a:t>Authors</a:t>
                      </a:r>
                      <a:endParaRPr lang="en-US" sz="13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US" sz="1300" b="1" i="0" u="none" strike="noStrike" dirty="0">
                          <a:ln>
                            <a:solidFill>
                              <a:schemeClr val="bg1"/>
                            </a:solidFill>
                          </a:ln>
                          <a:solidFill>
                            <a:schemeClr val="bg1"/>
                          </a:solidFill>
                          <a:effectLst/>
                          <a:latin typeface="Asap" pitchFamily="2" charset="77"/>
                        </a:rPr>
                        <a:t>Name of Journal/ Conference</a:t>
                      </a:r>
                      <a:endParaRPr lang="en-US" sz="13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US" sz="1300" b="1" i="0" u="none" strike="noStrike" dirty="0">
                          <a:ln>
                            <a:solidFill>
                              <a:schemeClr val="bg1"/>
                            </a:solidFill>
                          </a:ln>
                          <a:solidFill>
                            <a:schemeClr val="bg1"/>
                          </a:solidFill>
                          <a:effectLst/>
                          <a:latin typeface="Asap" pitchFamily="2" charset="77"/>
                        </a:rPr>
                        <a:t>Date of Pub.</a:t>
                      </a:r>
                      <a:endParaRPr lang="en-US" sz="13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US" sz="1300" b="1" i="0" u="none" strike="noStrike" dirty="0">
                          <a:ln>
                            <a:solidFill>
                              <a:schemeClr val="bg1"/>
                            </a:solidFill>
                          </a:ln>
                          <a:solidFill>
                            <a:schemeClr val="bg1"/>
                          </a:solidFill>
                          <a:effectLst/>
                          <a:latin typeface="Asap" pitchFamily="2" charset="77"/>
                        </a:rPr>
                        <a:t>Summary</a:t>
                      </a:r>
                      <a:endParaRPr lang="en-US" sz="13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2384762"/>
                  </a:ext>
                </a:extLst>
              </a:tr>
              <a:tr h="2429062">
                <a:tc>
                  <a:txBody>
                    <a:bodyPr/>
                    <a:lstStyle/>
                    <a:p>
                      <a:pPr fontAlgn="t">
                        <a:buNone/>
                      </a:pPr>
                      <a:r>
                        <a:rPr lang="en-US" sz="1400" dirty="0">
                          <a:ln>
                            <a:solidFill>
                              <a:schemeClr val="bg1"/>
                            </a:solidFill>
                          </a:ln>
                          <a:solidFill>
                            <a:schemeClr val="bg1"/>
                          </a:solidFill>
                          <a:effectLst/>
                        </a:rPr>
                        <a:t> 3</a:t>
                      </a:r>
                    </a:p>
                  </a:txBody>
                  <a:tcPr marL="74154" marR="74154" marT="74154" marB="74154">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500" dirty="0">
                          <a:ln>
                            <a:solidFill>
                              <a:schemeClr val="bg1"/>
                            </a:solidFill>
                          </a:ln>
                          <a:solidFill>
                            <a:schemeClr val="bg1"/>
                          </a:solidFill>
                          <a:effectLst/>
                        </a:rPr>
                        <a:t> </a:t>
                      </a:r>
                      <a:r>
                        <a:rPr lang="en-US" sz="1500" b="1" i="0" kern="1200" dirty="0">
                          <a:solidFill>
                            <a:schemeClr val="bg1"/>
                          </a:solidFill>
                          <a:effectLst/>
                          <a:latin typeface="+mn-lt"/>
                          <a:ea typeface="+mn-ea"/>
                          <a:cs typeface="+mn-cs"/>
                        </a:rPr>
                        <a:t>A Reconsideration of Cognitive Load Theory</a:t>
                      </a:r>
                    </a:p>
                    <a:p>
                      <a:pPr fontAlgn="t">
                        <a:buNone/>
                      </a:pPr>
                      <a:endParaRPr lang="en-US" sz="15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buNone/>
                      </a:pPr>
                      <a:r>
                        <a:rPr lang="en-US" sz="1500" dirty="0">
                          <a:ln>
                            <a:solidFill>
                              <a:schemeClr val="bg1"/>
                            </a:solidFill>
                          </a:ln>
                          <a:solidFill>
                            <a:schemeClr val="bg1"/>
                          </a:solidFill>
                          <a:effectLst/>
                        </a:rPr>
                        <a:t> ---</a:t>
                      </a: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buNone/>
                      </a:pPr>
                      <a:r>
                        <a:rPr lang="en-US" sz="1400" dirty="0">
                          <a:ln>
                            <a:solidFill>
                              <a:schemeClr val="bg1"/>
                            </a:solidFill>
                          </a:ln>
                          <a:solidFill>
                            <a:schemeClr val="bg1"/>
                          </a:solidFill>
                          <a:effectLst/>
                        </a:rPr>
                        <a:t> Springer Nature</a:t>
                      </a: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t">
                        <a:buNone/>
                      </a:pPr>
                      <a:r>
                        <a:rPr lang="en-US" sz="1400" dirty="0">
                          <a:ln>
                            <a:solidFill>
                              <a:schemeClr val="bg1"/>
                            </a:solidFill>
                          </a:ln>
                          <a:solidFill>
                            <a:schemeClr val="bg1"/>
                          </a:solidFill>
                          <a:effectLst/>
                        </a:rPr>
                        <a:t> 2007</a:t>
                      </a: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500" dirty="0">
                          <a:ln>
                            <a:solidFill>
                              <a:schemeClr val="bg1"/>
                            </a:solidFill>
                          </a:ln>
                          <a:solidFill>
                            <a:schemeClr val="bg1"/>
                          </a:solidFill>
                          <a:effectLst/>
                        </a:rPr>
                        <a:t> </a:t>
                      </a:r>
                      <a:r>
                        <a:rPr lang="en-US" sz="1500" dirty="0">
                          <a:solidFill>
                            <a:schemeClr val="bg1"/>
                          </a:solidFill>
                        </a:rPr>
                        <a:t>The proposed system reexamines Cognitive Load Theory (CLT) in the context of digital and online learning. While CLT traditionally emphasizes reducing extraneous cognitive load, new evidence shows that design features such as interactivity, immersion, realism, disfluency, and emotional design can increase cognitive load but still enhance motivation and learning</a:t>
                      </a:r>
                      <a:endParaRPr lang="en-US" sz="15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6006205"/>
                  </a:ext>
                </a:extLst>
              </a:tr>
              <a:tr h="3218757">
                <a:tc>
                  <a:txBody>
                    <a:bodyPr/>
                    <a:lstStyle/>
                    <a:p>
                      <a:pPr fontAlgn="t">
                        <a:buNone/>
                      </a:pPr>
                      <a:r>
                        <a:rPr lang="en-US" sz="1400" dirty="0">
                          <a:ln>
                            <a:solidFill>
                              <a:schemeClr val="bg1"/>
                            </a:solidFill>
                          </a:ln>
                          <a:solidFill>
                            <a:schemeClr val="bg1"/>
                          </a:solidFill>
                          <a:effectLst/>
                        </a:rPr>
                        <a:t> 4</a:t>
                      </a:r>
                    </a:p>
                  </a:txBody>
                  <a:tcPr marL="74154" marR="74154" marT="74154" marB="74154">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500" dirty="0">
                          <a:ln>
                            <a:solidFill>
                              <a:schemeClr val="bg1"/>
                            </a:solidFill>
                          </a:ln>
                          <a:solidFill>
                            <a:schemeClr val="bg1"/>
                          </a:solidFill>
                          <a:effectLst/>
                        </a:rPr>
                        <a:t> </a:t>
                      </a:r>
                      <a:r>
                        <a:rPr lang="en-US" sz="1500" b="1" i="0" kern="1200" dirty="0">
                          <a:solidFill>
                            <a:schemeClr val="bg1"/>
                          </a:solidFill>
                          <a:effectLst/>
                          <a:latin typeface="+mn-lt"/>
                          <a:ea typeface="+mn-ea"/>
                          <a:cs typeface="+mn-cs"/>
                        </a:rPr>
                        <a:t>Mood based E-learning using EEG</a:t>
                      </a:r>
                    </a:p>
                    <a:p>
                      <a:pPr fontAlgn="t">
                        <a:buNone/>
                      </a:pPr>
                      <a:endParaRPr lang="en-US" sz="15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buNone/>
                      </a:pPr>
                      <a:r>
                        <a:rPr lang="en-US" sz="1500" dirty="0">
                          <a:ln>
                            <a:solidFill>
                              <a:schemeClr val="bg1"/>
                            </a:solidFill>
                          </a:ln>
                          <a:solidFill>
                            <a:schemeClr val="bg1"/>
                          </a:solidFill>
                          <a:effectLst/>
                        </a:rPr>
                        <a:t> </a:t>
                      </a:r>
                      <a:r>
                        <a:rPr lang="en-US" sz="1500" b="0" i="0" u="none" strike="noStrike" kern="1200" dirty="0">
                          <a:solidFill>
                            <a:schemeClr val="bg1"/>
                          </a:solidFill>
                          <a:effectLst/>
                          <a:latin typeface="+mn-lt"/>
                          <a:ea typeface="+mn-ea"/>
                          <a:cs typeface="+mn-cs"/>
                          <a:hlinkClick r:id="rId2">
                            <a:extLst>
                              <a:ext uri="{A12FA001-AC4F-418D-AE19-62706E023703}">
                                <ahyp:hlinkClr xmlns:ahyp="http://schemas.microsoft.com/office/drawing/2018/hyperlinkcolor" val="tx"/>
                              </a:ext>
                            </a:extLst>
                          </a:hlinkClick>
                        </a:rPr>
                        <a:t>Namita. R. Tambe</a:t>
                      </a:r>
                      <a:r>
                        <a:rPr lang="en-US" sz="1500" b="0" i="0" kern="1200" dirty="0">
                          <a:solidFill>
                            <a:schemeClr val="bg1"/>
                          </a:solidFill>
                          <a:effectLst/>
                          <a:latin typeface="+mn-lt"/>
                          <a:ea typeface="+mn-ea"/>
                          <a:cs typeface="+mn-cs"/>
                        </a:rPr>
                        <a:t>; </a:t>
                      </a:r>
                      <a:r>
                        <a:rPr lang="en-US" sz="1500" b="0" i="0" u="none" strike="noStrike" kern="1200" dirty="0">
                          <a:solidFill>
                            <a:schemeClr val="bg1"/>
                          </a:solidFill>
                          <a:effectLst/>
                          <a:latin typeface="+mn-lt"/>
                          <a:ea typeface="+mn-ea"/>
                          <a:cs typeface="+mn-cs"/>
                          <a:hlinkClick r:id="rId3">
                            <a:extLst>
                              <a:ext uri="{A12FA001-AC4F-418D-AE19-62706E023703}">
                                <ahyp:hlinkClr xmlns:ahyp="http://schemas.microsoft.com/office/drawing/2018/hyperlinkcolor" val="tx"/>
                              </a:ext>
                            </a:extLst>
                          </a:hlinkClick>
                        </a:rPr>
                        <a:t>Ajitkumar Khachane</a:t>
                      </a:r>
                      <a:endParaRPr lang="en-US" sz="15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buNone/>
                      </a:pPr>
                      <a:r>
                        <a:rPr lang="en-US" sz="1400" dirty="0">
                          <a:ln>
                            <a:solidFill>
                              <a:schemeClr val="bg1"/>
                            </a:solidFill>
                          </a:ln>
                          <a:solidFill>
                            <a:schemeClr val="bg1"/>
                          </a:solidFill>
                          <a:effectLst/>
                        </a:rPr>
                        <a:t> IEEE</a:t>
                      </a: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t">
                        <a:buNone/>
                      </a:pPr>
                      <a:r>
                        <a:rPr lang="en-US" sz="1400" dirty="0">
                          <a:ln>
                            <a:solidFill>
                              <a:schemeClr val="bg1"/>
                            </a:solidFill>
                          </a:ln>
                          <a:solidFill>
                            <a:schemeClr val="bg1"/>
                          </a:solidFill>
                          <a:effectLst/>
                        </a:rPr>
                        <a:t> 2016</a:t>
                      </a:r>
                    </a:p>
                  </a:txBody>
                  <a:tcPr marL="74154" marR="74154" marT="74154" marB="7415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t">
                        <a:buNone/>
                      </a:pPr>
                      <a:r>
                        <a:rPr lang="en-US" sz="1500" dirty="0">
                          <a:ln>
                            <a:solidFill>
                              <a:schemeClr val="bg1"/>
                            </a:solidFill>
                          </a:ln>
                          <a:solidFill>
                            <a:schemeClr val="bg1"/>
                          </a:solidFill>
                          <a:effectLst/>
                        </a:rPr>
                        <a:t> </a:t>
                      </a:r>
                      <a:r>
                        <a:rPr lang="en-US" sz="1500" b="0" i="0" kern="1200" dirty="0">
                          <a:solidFill>
                            <a:schemeClr val="bg1"/>
                          </a:solidFill>
                          <a:effectLst/>
                          <a:latin typeface="+mn-lt"/>
                          <a:ea typeface="+mn-ea"/>
                          <a:cs typeface="+mn-cs"/>
                        </a:rPr>
                        <a:t>The paper discusses a smart E-learning system that utilizes EEG sensors to detect users' emotions and attention levels. By analyzing brainwave signals, it predicts appropriate video content to enhance the learning experience, addressing limitations of traditional E-learning systems.</a:t>
                      </a:r>
                      <a:endParaRPr lang="en-US" sz="1500" dirty="0">
                        <a:ln>
                          <a:solidFill>
                            <a:schemeClr val="bg1"/>
                          </a:solidFill>
                        </a:ln>
                        <a:solidFill>
                          <a:schemeClr val="bg1"/>
                        </a:solidFill>
                        <a:effectLst/>
                      </a:endParaRPr>
                    </a:p>
                  </a:txBody>
                  <a:tcPr marL="74154" marR="74154" marT="74154" marB="74154">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2017170"/>
                  </a:ext>
                </a:extLst>
              </a:tr>
            </a:tbl>
          </a:graphicData>
        </a:graphic>
      </p:graphicFrame>
      <p:sp>
        <p:nvSpPr>
          <p:cNvPr id="3" name="Rectangle 1">
            <a:extLst>
              <a:ext uri="{FF2B5EF4-FFF2-40B4-BE49-F238E27FC236}">
                <a16:creationId xmlns:a16="http://schemas.microsoft.com/office/drawing/2014/main" id="{0EF51E7D-A8D2-C1E9-0478-F35DBD67629E}"/>
              </a:ext>
            </a:extLst>
          </p:cNvPr>
          <p:cNvSpPr>
            <a:spLocks noChangeArrowheads="1"/>
          </p:cNvSpPr>
          <p:nvPr/>
        </p:nvSpPr>
        <p:spPr bwMode="auto">
          <a:xfrm>
            <a:off x="1535113" y="18240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4181521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275</TotalTime>
  <Words>832</Words>
  <Application>Microsoft Macintosh PowerPoint</Application>
  <PresentationFormat>Widescreen</PresentationFormat>
  <Paragraphs>104</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Asap</vt:lpstr>
      <vt:lpstr>Source Sans 3</vt:lpstr>
      <vt:lpstr>Source Serif 4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Aryan Ghadekar</dc:creator>
  <cp:lastModifiedBy>Aryan Ghadekar</cp:lastModifiedBy>
  <cp:revision>42</cp:revision>
  <dcterms:created xsi:type="dcterms:W3CDTF">2025-08-12T09:04:52Z</dcterms:created>
  <dcterms:modified xsi:type="dcterms:W3CDTF">2025-10-03T14:33:43Z</dcterms:modified>
</cp:coreProperties>
</file>