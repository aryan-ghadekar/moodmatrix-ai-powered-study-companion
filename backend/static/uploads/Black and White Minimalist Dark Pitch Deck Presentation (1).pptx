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4" r:id="rId7"/>
    <p:sldId id="265" r:id="rId8"/>
    <p:sldId id="266" r:id="rId9"/>
    <p:sldId id="267" r:id="rId10"/>
    <p:sldId id="269" r:id="rId11"/>
    <p:sldId id="274" r:id="rId12"/>
  </p:sldIdLst>
  <p:sldSz cx="18288000" cy="10287000"/>
  <p:notesSz cx="6858000" cy="9144000"/>
  <p:embeddedFontLst>
    <p:embeddedFont>
      <p:font typeface="Garet Bold" panose="020B0604020202020204" charset="0"/>
      <p:regular r:id="rId13"/>
    </p:embeddedFont>
    <p:embeddedFont>
      <p:font typeface="Poppins" panose="00000500000000000000" pitchFamily="2" charset="0"/>
      <p:regular r:id="rId14"/>
    </p:embeddedFont>
    <p:embeddedFont>
      <p:font typeface="Poppins Bold" panose="020B0604020202020204" charset="0"/>
      <p:regular r:id="rId15"/>
    </p:embeddedFont>
    <p:embeddedFont>
      <p:font typeface="Tex Gyre Bonum" panose="020B0604020202020204" charset="0"/>
      <p:regular r:id="rId16"/>
    </p:embeddedFont>
    <p:embeddedFont>
      <p:font typeface="Tex Gyre Bonum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178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308" y="301102"/>
            <a:ext cx="7374141" cy="1902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87"/>
              </a:lnSpc>
            </a:pPr>
            <a:r>
              <a:rPr lang="en-US" sz="13599">
                <a:solidFill>
                  <a:srgbClr val="0F0F0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Problem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3863952" y="-1116868"/>
            <a:ext cx="4576729" cy="457672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0F0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404044" y="301102"/>
            <a:ext cx="9405762" cy="1902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87"/>
              </a:lnSpc>
            </a:pPr>
            <a:r>
              <a:rPr lang="en-US" sz="13599">
                <a:solidFill>
                  <a:srgbClr val="919191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Statement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9948" y="871653"/>
            <a:ext cx="599689" cy="599689"/>
            <a:chOff x="0" y="0"/>
            <a:chExt cx="799585" cy="799585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99585" cy="799585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0F0F0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78989" y="178989"/>
              <a:ext cx="441606" cy="441606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>
            <a:off x="15792390" y="9498131"/>
            <a:ext cx="1466910" cy="388112"/>
            <a:chOff x="0" y="0"/>
            <a:chExt cx="386347" cy="1022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6347" cy="102219"/>
            </a:xfrm>
            <a:custGeom>
              <a:avLst/>
              <a:gdLst/>
              <a:ahLst/>
              <a:cxnLst/>
              <a:rect l="l" t="t" r="r" b="b"/>
              <a:pathLst>
                <a:path w="386347" h="102219">
                  <a:moveTo>
                    <a:pt x="51109" y="0"/>
                  </a:moveTo>
                  <a:lnTo>
                    <a:pt x="335237" y="0"/>
                  </a:lnTo>
                  <a:cubicBezTo>
                    <a:pt x="348792" y="0"/>
                    <a:pt x="361792" y="5385"/>
                    <a:pt x="371377" y="14970"/>
                  </a:cubicBezTo>
                  <a:cubicBezTo>
                    <a:pt x="380962" y="24554"/>
                    <a:pt x="386347" y="37554"/>
                    <a:pt x="386347" y="51109"/>
                  </a:cubicBezTo>
                  <a:lnTo>
                    <a:pt x="386347" y="51109"/>
                  </a:lnTo>
                  <a:cubicBezTo>
                    <a:pt x="386347" y="79336"/>
                    <a:pt x="363464" y="102219"/>
                    <a:pt x="335237" y="102219"/>
                  </a:cubicBezTo>
                  <a:lnTo>
                    <a:pt x="51109" y="102219"/>
                  </a:lnTo>
                  <a:cubicBezTo>
                    <a:pt x="37554" y="102219"/>
                    <a:pt x="24554" y="96834"/>
                    <a:pt x="14970" y="87249"/>
                  </a:cubicBezTo>
                  <a:cubicBezTo>
                    <a:pt x="5385" y="77664"/>
                    <a:pt x="0" y="64664"/>
                    <a:pt x="0" y="51109"/>
                  </a:cubicBezTo>
                  <a:lnTo>
                    <a:pt x="0" y="51109"/>
                  </a:lnTo>
                  <a:cubicBezTo>
                    <a:pt x="0" y="37554"/>
                    <a:pt x="5385" y="24554"/>
                    <a:pt x="14970" y="14970"/>
                  </a:cubicBezTo>
                  <a:cubicBezTo>
                    <a:pt x="24554" y="5385"/>
                    <a:pt x="37554" y="0"/>
                    <a:pt x="51109" y="0"/>
                  </a:cubicBezTo>
                  <a:close/>
                </a:path>
              </a:pathLst>
            </a:custGeom>
            <a:solidFill>
              <a:srgbClr val="0F0F0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86347" cy="140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08"/>
                </a:lnSpc>
              </a:pPr>
              <a:r>
                <a:rPr lang="en-US" sz="1220" spc="97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NEXT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9806419" y="2406470"/>
            <a:ext cx="7479773" cy="7479773"/>
          </a:xfrm>
          <a:custGeom>
            <a:avLst/>
            <a:gdLst/>
            <a:ahLst/>
            <a:cxnLst/>
            <a:rect l="l" t="t" r="r" b="b"/>
            <a:pathLst>
              <a:path w="7479773" h="7479773">
                <a:moveTo>
                  <a:pt x="0" y="0"/>
                </a:moveTo>
                <a:lnTo>
                  <a:pt x="7479774" y="0"/>
                </a:lnTo>
                <a:lnTo>
                  <a:pt x="7479774" y="7479773"/>
                </a:lnTo>
                <a:lnTo>
                  <a:pt x="0" y="7479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580" r="-18140" b="-29721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18977" y="3793497"/>
            <a:ext cx="9376627" cy="842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3"/>
              </a:lnSpc>
            </a:pPr>
            <a:r>
              <a:rPr lang="en-US" sz="4709" b="1">
                <a:solidFill>
                  <a:srgbClr val="0F0F0F"/>
                </a:solidFill>
                <a:latin typeface="Poppins Bold"/>
                <a:ea typeface="Poppins Bold"/>
                <a:cs typeface="Poppins Bold"/>
                <a:sym typeface="Poppins Bold"/>
              </a:rPr>
              <a:t>Title</a:t>
            </a:r>
            <a:r>
              <a:rPr lang="en-US" sz="4709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: Smart Innovation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8977" y="5010150"/>
            <a:ext cx="8212804" cy="842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4699" b="1">
                <a:solidFill>
                  <a:srgbClr val="0F0F0F"/>
                </a:solidFill>
                <a:latin typeface="Poppins Bold"/>
                <a:ea typeface="Poppins Bold"/>
                <a:cs typeface="Poppins Bold"/>
                <a:sym typeface="Poppins Bold"/>
              </a:rPr>
              <a:t>Theme</a:t>
            </a:r>
            <a:r>
              <a:rPr lang="en-US" sz="4699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: Smart Education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9793" y="5364798"/>
            <a:ext cx="8832130" cy="17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93"/>
              </a:lnSpc>
            </a:pPr>
            <a:endParaRPr/>
          </a:p>
          <a:p>
            <a:pPr algn="l">
              <a:lnSpc>
                <a:spcPts val="6693"/>
              </a:lnSpc>
            </a:pPr>
            <a:r>
              <a:rPr lang="en-US" sz="4780" b="1">
                <a:solidFill>
                  <a:srgbClr val="0F0F0F"/>
                </a:solidFill>
                <a:latin typeface="Poppins Bold"/>
                <a:ea typeface="Poppins Bold"/>
                <a:cs typeface="Poppins Bold"/>
                <a:sym typeface="Poppins Bold"/>
              </a:rPr>
              <a:t>Organization</a:t>
            </a:r>
            <a:r>
              <a:rPr lang="en-US" sz="478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: AICTE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9793" y="7700812"/>
            <a:ext cx="8832130" cy="17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93"/>
              </a:lnSpc>
            </a:pPr>
            <a:r>
              <a:rPr lang="en-US" sz="4780" b="1">
                <a:solidFill>
                  <a:srgbClr val="0F0F0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</a:t>
            </a:r>
            <a:r>
              <a:rPr lang="en-US" sz="478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: AICTE, MIC-Student Innovation</a:t>
            </a: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62887" y="-1033688"/>
            <a:ext cx="11204058" cy="11959981"/>
            <a:chOff x="0" y="0"/>
            <a:chExt cx="2950863" cy="31499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50863" cy="3149954"/>
            </a:xfrm>
            <a:custGeom>
              <a:avLst/>
              <a:gdLst/>
              <a:ahLst/>
              <a:cxnLst/>
              <a:rect l="l" t="t" r="r" b="b"/>
              <a:pathLst>
                <a:path w="2950863" h="3149954">
                  <a:moveTo>
                    <a:pt x="11747" y="0"/>
                  </a:moveTo>
                  <a:lnTo>
                    <a:pt x="2939116" y="0"/>
                  </a:lnTo>
                  <a:cubicBezTo>
                    <a:pt x="2942231" y="0"/>
                    <a:pt x="2945219" y="1238"/>
                    <a:pt x="2947422" y="3441"/>
                  </a:cubicBezTo>
                  <a:cubicBezTo>
                    <a:pt x="2949625" y="5644"/>
                    <a:pt x="2950863" y="8631"/>
                    <a:pt x="2950863" y="11747"/>
                  </a:cubicBezTo>
                  <a:lnTo>
                    <a:pt x="2950863" y="3138207"/>
                  </a:lnTo>
                  <a:cubicBezTo>
                    <a:pt x="2950863" y="3141322"/>
                    <a:pt x="2949625" y="3144310"/>
                    <a:pt x="2947422" y="3146513"/>
                  </a:cubicBezTo>
                  <a:cubicBezTo>
                    <a:pt x="2945219" y="3148716"/>
                    <a:pt x="2942231" y="3149954"/>
                    <a:pt x="2939116" y="3149954"/>
                  </a:cubicBezTo>
                  <a:lnTo>
                    <a:pt x="11747" y="3149954"/>
                  </a:lnTo>
                  <a:cubicBezTo>
                    <a:pt x="8631" y="3149954"/>
                    <a:pt x="5644" y="3148716"/>
                    <a:pt x="3441" y="3146513"/>
                  </a:cubicBezTo>
                  <a:cubicBezTo>
                    <a:pt x="1238" y="3144310"/>
                    <a:pt x="0" y="3141322"/>
                    <a:pt x="0" y="3138207"/>
                  </a:cubicBezTo>
                  <a:lnTo>
                    <a:pt x="0" y="11747"/>
                  </a:lnTo>
                  <a:cubicBezTo>
                    <a:pt x="0" y="8631"/>
                    <a:pt x="1238" y="5644"/>
                    <a:pt x="3441" y="3441"/>
                  </a:cubicBezTo>
                  <a:cubicBezTo>
                    <a:pt x="5644" y="1238"/>
                    <a:pt x="8631" y="0"/>
                    <a:pt x="11747" y="0"/>
                  </a:cubicBezTo>
                  <a:close/>
                </a:path>
              </a:pathLst>
            </a:custGeom>
            <a:solidFill>
              <a:srgbClr val="0F0F0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950863" cy="3207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792390" y="9498131"/>
            <a:ext cx="1466910" cy="388112"/>
            <a:chOff x="0" y="0"/>
            <a:chExt cx="386347" cy="102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347" cy="102219"/>
            </a:xfrm>
            <a:custGeom>
              <a:avLst/>
              <a:gdLst/>
              <a:ahLst/>
              <a:cxnLst/>
              <a:rect l="l" t="t" r="r" b="b"/>
              <a:pathLst>
                <a:path w="386347" h="102219">
                  <a:moveTo>
                    <a:pt x="51109" y="0"/>
                  </a:moveTo>
                  <a:lnTo>
                    <a:pt x="335237" y="0"/>
                  </a:lnTo>
                  <a:cubicBezTo>
                    <a:pt x="348792" y="0"/>
                    <a:pt x="361792" y="5385"/>
                    <a:pt x="371377" y="14970"/>
                  </a:cubicBezTo>
                  <a:cubicBezTo>
                    <a:pt x="380962" y="24554"/>
                    <a:pt x="386347" y="37554"/>
                    <a:pt x="386347" y="51109"/>
                  </a:cubicBezTo>
                  <a:lnTo>
                    <a:pt x="386347" y="51109"/>
                  </a:lnTo>
                  <a:cubicBezTo>
                    <a:pt x="386347" y="79336"/>
                    <a:pt x="363464" y="102219"/>
                    <a:pt x="335237" y="102219"/>
                  </a:cubicBezTo>
                  <a:lnTo>
                    <a:pt x="51109" y="102219"/>
                  </a:lnTo>
                  <a:cubicBezTo>
                    <a:pt x="37554" y="102219"/>
                    <a:pt x="24554" y="96834"/>
                    <a:pt x="14970" y="87249"/>
                  </a:cubicBezTo>
                  <a:cubicBezTo>
                    <a:pt x="5385" y="77664"/>
                    <a:pt x="0" y="64664"/>
                    <a:pt x="0" y="51109"/>
                  </a:cubicBezTo>
                  <a:lnTo>
                    <a:pt x="0" y="51109"/>
                  </a:lnTo>
                  <a:cubicBezTo>
                    <a:pt x="0" y="37554"/>
                    <a:pt x="5385" y="24554"/>
                    <a:pt x="14970" y="14970"/>
                  </a:cubicBezTo>
                  <a:cubicBezTo>
                    <a:pt x="24554" y="5385"/>
                    <a:pt x="37554" y="0"/>
                    <a:pt x="51109" y="0"/>
                  </a:cubicBezTo>
                  <a:close/>
                </a:path>
              </a:pathLst>
            </a:custGeom>
            <a:solidFill>
              <a:srgbClr val="0F0F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86347" cy="140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08"/>
                </a:lnSpc>
              </a:pPr>
              <a:r>
                <a:rPr lang="en-US" sz="1220" spc="97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NEXT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6376" y="882310"/>
            <a:ext cx="945952" cy="945952"/>
            <a:chOff x="0" y="0"/>
            <a:chExt cx="1261269" cy="1261269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261269" cy="1261269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>
                  <a:alpha val="40000"/>
                </a:srgbClr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2176" tIns="52176" rIns="52176" bIns="52176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17686" y="117686"/>
              <a:ext cx="1025898" cy="1025898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1320" tIns="41320" rIns="41320" bIns="4132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1</a:t>
                </a:r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143241" y="3600154"/>
            <a:ext cx="945952" cy="945952"/>
            <a:chOff x="0" y="0"/>
            <a:chExt cx="1261269" cy="1261269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261269" cy="1261269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>
                  <a:alpha val="40000"/>
                </a:srgbClr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2176" tIns="52176" rIns="52176" bIns="52176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17686" y="117686"/>
              <a:ext cx="1025898" cy="1025898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1320" tIns="41320" rIns="41320" bIns="4132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</a:t>
                </a:r>
              </a:p>
            </p:txBody>
          </p:sp>
        </p:grpSp>
      </p:grpSp>
      <p:grpSp>
        <p:nvGrpSpPr>
          <p:cNvPr id="22" name="Group 22"/>
          <p:cNvGrpSpPr/>
          <p:nvPr/>
        </p:nvGrpSpPr>
        <p:grpSpPr>
          <a:xfrm>
            <a:off x="168578" y="7325388"/>
            <a:ext cx="973750" cy="973750"/>
            <a:chOff x="0" y="0"/>
            <a:chExt cx="1298333" cy="1298333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298333" cy="1298333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2176" tIns="52176" rIns="52176" bIns="52176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21144" y="121144"/>
              <a:ext cx="1056045" cy="1056045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3951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1320" tIns="41320" rIns="41320" bIns="4132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EFEFE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4</a:t>
                </a:r>
              </a:p>
            </p:txBody>
          </p:sp>
        </p:grpSp>
      </p:grpSp>
      <p:sp>
        <p:nvSpPr>
          <p:cNvPr id="29" name="Freeform 29"/>
          <p:cNvSpPr/>
          <p:nvPr/>
        </p:nvSpPr>
        <p:spPr>
          <a:xfrm>
            <a:off x="9372594" y="882310"/>
            <a:ext cx="8237269" cy="6189538"/>
          </a:xfrm>
          <a:custGeom>
            <a:avLst/>
            <a:gdLst/>
            <a:ahLst/>
            <a:cxnLst/>
            <a:rect l="l" t="t" r="r" b="b"/>
            <a:pathLst>
              <a:path w="8237269" h="6189538">
                <a:moveTo>
                  <a:pt x="0" y="0"/>
                </a:moveTo>
                <a:lnTo>
                  <a:pt x="8237270" y="0"/>
                </a:lnTo>
                <a:lnTo>
                  <a:pt x="8237270" y="6189538"/>
                </a:lnTo>
                <a:lnTo>
                  <a:pt x="0" y="618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934" b="-14148"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6741702" y="-37805"/>
            <a:ext cx="11546298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999" b="1">
                <a:solidFill>
                  <a:srgbClr val="000000"/>
                </a:solidFill>
                <a:latin typeface="Tex Gyre Bonum Bold"/>
                <a:ea typeface="Tex Gyre Bonum Bold"/>
                <a:cs typeface="Tex Gyre Bonum Bold"/>
                <a:sym typeface="Tex Gyre Bonum Bold"/>
              </a:rPr>
              <a:t>Pain </a:t>
            </a:r>
            <a:r>
              <a:rPr lang="en-US" sz="6999" b="1">
                <a:solidFill>
                  <a:srgbClr val="FEFEFE"/>
                </a:solidFill>
                <a:latin typeface="Tex Gyre Bonum Bold"/>
                <a:ea typeface="Tex Gyre Bonum Bold"/>
                <a:cs typeface="Tex Gyre Bonum Bold"/>
                <a:sym typeface="Tex Gyre Bonum Bold"/>
              </a:rPr>
              <a:t>Points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22751" y="1112398"/>
            <a:ext cx="530478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Attendance &amp; Time Loss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2535" y="1961611"/>
            <a:ext cx="7376309" cy="148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175" lvl="1" indent="-226587" algn="ctr">
              <a:lnSpc>
                <a:spcPts val="2938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8–10 mins wasted per class = 30+ lectures lost per year for every subject.</a:t>
            </a:r>
          </a:p>
          <a:p>
            <a:pPr marL="453175" lvl="1" indent="-226587" algn="ctr">
              <a:lnSpc>
                <a:spcPts val="2938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Causes Teachers Fatigue</a:t>
            </a:r>
          </a:p>
          <a:p>
            <a:pPr marL="453175" lvl="1" indent="-226587" algn="ctr">
              <a:lnSpc>
                <a:spcPts val="2938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Proxy attendance &amp; Errors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89958" y="3851396"/>
            <a:ext cx="6818886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 Visibility &amp; Analytics Gap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92110" y="4498480"/>
            <a:ext cx="8342332" cy="296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175" lvl="1" indent="-226587" algn="ctr">
              <a:lnSpc>
                <a:spcPts val="2938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No single dashboard for attendance, grades, submissions</a:t>
            </a:r>
          </a:p>
          <a:p>
            <a:pPr marL="453175" lvl="1" indent="-226587" algn="ctr">
              <a:lnSpc>
                <a:spcPts val="2938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No live view of lab/classroom usage impedes timely intervention and maintenance.</a:t>
            </a:r>
          </a:p>
          <a:p>
            <a:pPr marL="453175" lvl="1" indent="-226587" algn="ctr">
              <a:lnSpc>
                <a:spcPts val="2938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Teachers can’t identify at-risk students early</a:t>
            </a:r>
          </a:p>
          <a:p>
            <a:pPr marL="453175" lvl="1" indent="-226587" algn="ctr">
              <a:lnSpc>
                <a:spcPts val="2938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Students don’t know they are falling behind until too late</a:t>
            </a:r>
          </a:p>
          <a:p>
            <a:pPr algn="ctr">
              <a:lnSpc>
                <a:spcPts val="2939"/>
              </a:lnSpc>
            </a:pPr>
            <a:endParaRPr lang="en-US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32535" y="7569375"/>
            <a:ext cx="780190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0F0F0F"/>
                </a:solidFill>
                <a:latin typeface="Garet Bold"/>
                <a:ea typeface="Garet Bold"/>
                <a:cs typeface="Garet Bold"/>
                <a:sym typeface="Garet Bold"/>
              </a:rPr>
              <a:t>Administrative Pain Points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8700" y="8308658"/>
            <a:ext cx="7743252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175" lvl="1" indent="-226587" algn="ctr">
              <a:lnSpc>
                <a:spcPts val="2938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Hard to generate reports for management/NAAC </a:t>
            </a:r>
          </a:p>
          <a:p>
            <a:pPr marL="453175" lvl="1" indent="-226587" algn="ctr">
              <a:lnSpc>
                <a:spcPts val="2938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No analytics for decision-making (dropouts, low performers) </a:t>
            </a:r>
          </a:p>
          <a:p>
            <a:pPr marL="453175" lvl="1" indent="-226587" algn="ctr">
              <a:lnSpc>
                <a:spcPts val="2939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Disputes over attendance/marks take time due to no audit trail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144000" y="7353351"/>
            <a:ext cx="945952" cy="945952"/>
            <a:chOff x="0" y="0"/>
            <a:chExt cx="1261269" cy="1261269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261269" cy="1261269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F0F0">
                  <a:alpha val="40000"/>
                </a:srgbClr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2176" tIns="52176" rIns="52176" bIns="52176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117686" y="117686"/>
              <a:ext cx="1025898" cy="1025898"/>
              <a:chOff x="0" y="0"/>
              <a:chExt cx="812800" cy="812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1320" tIns="41320" rIns="41320" bIns="4132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4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0030213" y="7655997"/>
            <a:ext cx="780190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0F0F0F"/>
                </a:solidFill>
                <a:latin typeface="Garet Bold"/>
                <a:ea typeface="Garet Bold"/>
                <a:cs typeface="Garet Bold"/>
                <a:sym typeface="Garet Bold"/>
              </a:rPr>
              <a:t>Learning Gaps &amp; Low Engagement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059541" y="8389422"/>
            <a:ext cx="7743252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175" lvl="1" indent="-226587" algn="ctr">
              <a:lnSpc>
                <a:spcPts val="2938"/>
              </a:lnSpc>
              <a:buFont typeface="Arial"/>
              <a:buChar char="•"/>
            </a:pPr>
            <a:r>
              <a:rPr lang="en-US" sz="2099" b="1">
                <a:solidFill>
                  <a:srgbClr val="FEFEFE"/>
                </a:solidFill>
                <a:latin typeface="Garet Bold"/>
                <a:ea typeface="Garet Bold"/>
                <a:cs typeface="Garet Bold"/>
                <a:sym typeface="Garet Bold"/>
              </a:rPr>
              <a:t>Students skip classes; no personalized catch-up</a:t>
            </a:r>
          </a:p>
          <a:p>
            <a:pPr marL="453175" lvl="1" indent="-226587" algn="ctr">
              <a:lnSpc>
                <a:spcPts val="2938"/>
              </a:lnSpc>
              <a:buFont typeface="Arial"/>
              <a:buChar char="•"/>
            </a:pPr>
            <a:r>
              <a:rPr lang="en-US" sz="2099" b="1">
                <a:solidFill>
                  <a:srgbClr val="FEFEFE"/>
                </a:solidFill>
                <a:latin typeface="Garet Bold"/>
                <a:ea typeface="Garet Bold"/>
                <a:cs typeface="Garet Bold"/>
                <a:sym typeface="Garet Bold"/>
              </a:rPr>
              <a:t>Notes shared but no interactive revision</a:t>
            </a:r>
          </a:p>
          <a:p>
            <a:pPr algn="ctr">
              <a:lnSpc>
                <a:spcPts val="2939"/>
              </a:lnSpc>
            </a:pPr>
            <a:endParaRPr lang="en-US" sz="2099" b="1">
              <a:solidFill>
                <a:srgbClr val="FEFEFE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grpSp>
        <p:nvGrpSpPr>
          <p:cNvPr id="46" name="Group 46"/>
          <p:cNvGrpSpPr/>
          <p:nvPr/>
        </p:nvGrpSpPr>
        <p:grpSpPr>
          <a:xfrm>
            <a:off x="196376" y="7366345"/>
            <a:ext cx="945952" cy="945952"/>
            <a:chOff x="0" y="0"/>
            <a:chExt cx="1261269" cy="1261269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1261269" cy="1261269"/>
              <a:chOff x="0" y="0"/>
              <a:chExt cx="812800" cy="8128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>
                  <a:alpha val="40000"/>
                </a:srgbClr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2176" tIns="52176" rIns="52176" bIns="52176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117686" y="117686"/>
              <a:ext cx="1025898" cy="1025898"/>
              <a:chOff x="0" y="0"/>
              <a:chExt cx="812800" cy="8128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1320" tIns="41320" rIns="41320" bIns="4132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3</a:t>
                </a:r>
              </a:p>
            </p:txBody>
          </p:sp>
        </p:grpSp>
      </p:grp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90361" y="0"/>
            <a:ext cx="11204058" cy="11959981"/>
            <a:chOff x="0" y="0"/>
            <a:chExt cx="2950863" cy="31499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50863" cy="3149954"/>
            </a:xfrm>
            <a:custGeom>
              <a:avLst/>
              <a:gdLst/>
              <a:ahLst/>
              <a:cxnLst/>
              <a:rect l="l" t="t" r="r" b="b"/>
              <a:pathLst>
                <a:path w="2950863" h="3149954">
                  <a:moveTo>
                    <a:pt x="11747" y="0"/>
                  </a:moveTo>
                  <a:lnTo>
                    <a:pt x="2939116" y="0"/>
                  </a:lnTo>
                  <a:cubicBezTo>
                    <a:pt x="2942231" y="0"/>
                    <a:pt x="2945219" y="1238"/>
                    <a:pt x="2947422" y="3441"/>
                  </a:cubicBezTo>
                  <a:cubicBezTo>
                    <a:pt x="2949625" y="5644"/>
                    <a:pt x="2950863" y="8631"/>
                    <a:pt x="2950863" y="11747"/>
                  </a:cubicBezTo>
                  <a:lnTo>
                    <a:pt x="2950863" y="3138207"/>
                  </a:lnTo>
                  <a:cubicBezTo>
                    <a:pt x="2950863" y="3141322"/>
                    <a:pt x="2949625" y="3144310"/>
                    <a:pt x="2947422" y="3146513"/>
                  </a:cubicBezTo>
                  <a:cubicBezTo>
                    <a:pt x="2945219" y="3148716"/>
                    <a:pt x="2942231" y="3149954"/>
                    <a:pt x="2939116" y="3149954"/>
                  </a:cubicBezTo>
                  <a:lnTo>
                    <a:pt x="11747" y="3149954"/>
                  </a:lnTo>
                  <a:cubicBezTo>
                    <a:pt x="8631" y="3149954"/>
                    <a:pt x="5644" y="3148716"/>
                    <a:pt x="3441" y="3146513"/>
                  </a:cubicBezTo>
                  <a:cubicBezTo>
                    <a:pt x="1238" y="3144310"/>
                    <a:pt x="0" y="3141322"/>
                    <a:pt x="0" y="3138207"/>
                  </a:cubicBezTo>
                  <a:lnTo>
                    <a:pt x="0" y="11747"/>
                  </a:lnTo>
                  <a:cubicBezTo>
                    <a:pt x="0" y="8631"/>
                    <a:pt x="1238" y="5644"/>
                    <a:pt x="3441" y="3441"/>
                  </a:cubicBezTo>
                  <a:cubicBezTo>
                    <a:pt x="5644" y="1238"/>
                    <a:pt x="8631" y="0"/>
                    <a:pt x="11747" y="0"/>
                  </a:cubicBezTo>
                  <a:close/>
                </a:path>
              </a:pathLst>
            </a:custGeom>
            <a:solidFill>
              <a:srgbClr val="0F0F0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950863" cy="3207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792390" y="9498131"/>
            <a:ext cx="1466910" cy="388112"/>
            <a:chOff x="0" y="0"/>
            <a:chExt cx="386347" cy="102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347" cy="102219"/>
            </a:xfrm>
            <a:custGeom>
              <a:avLst/>
              <a:gdLst/>
              <a:ahLst/>
              <a:cxnLst/>
              <a:rect l="l" t="t" r="r" b="b"/>
              <a:pathLst>
                <a:path w="386347" h="102219">
                  <a:moveTo>
                    <a:pt x="51109" y="0"/>
                  </a:moveTo>
                  <a:lnTo>
                    <a:pt x="335237" y="0"/>
                  </a:lnTo>
                  <a:cubicBezTo>
                    <a:pt x="348792" y="0"/>
                    <a:pt x="361792" y="5385"/>
                    <a:pt x="371377" y="14970"/>
                  </a:cubicBezTo>
                  <a:cubicBezTo>
                    <a:pt x="380962" y="24554"/>
                    <a:pt x="386347" y="37554"/>
                    <a:pt x="386347" y="51109"/>
                  </a:cubicBezTo>
                  <a:lnTo>
                    <a:pt x="386347" y="51109"/>
                  </a:lnTo>
                  <a:cubicBezTo>
                    <a:pt x="386347" y="79336"/>
                    <a:pt x="363464" y="102219"/>
                    <a:pt x="335237" y="102219"/>
                  </a:cubicBezTo>
                  <a:lnTo>
                    <a:pt x="51109" y="102219"/>
                  </a:lnTo>
                  <a:cubicBezTo>
                    <a:pt x="37554" y="102219"/>
                    <a:pt x="24554" y="96834"/>
                    <a:pt x="14970" y="87249"/>
                  </a:cubicBezTo>
                  <a:cubicBezTo>
                    <a:pt x="5385" y="77664"/>
                    <a:pt x="0" y="64664"/>
                    <a:pt x="0" y="51109"/>
                  </a:cubicBezTo>
                  <a:lnTo>
                    <a:pt x="0" y="51109"/>
                  </a:lnTo>
                  <a:cubicBezTo>
                    <a:pt x="0" y="37554"/>
                    <a:pt x="5385" y="24554"/>
                    <a:pt x="14970" y="14970"/>
                  </a:cubicBezTo>
                  <a:cubicBezTo>
                    <a:pt x="24554" y="5385"/>
                    <a:pt x="37554" y="0"/>
                    <a:pt x="51109" y="0"/>
                  </a:cubicBezTo>
                  <a:close/>
                </a:path>
              </a:pathLst>
            </a:custGeom>
            <a:solidFill>
              <a:srgbClr val="0F0F0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86347" cy="140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08"/>
                </a:lnSpc>
              </a:pPr>
              <a:r>
                <a:rPr lang="en-US" sz="1220" spc="97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NEXT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7224" y="1193206"/>
            <a:ext cx="973750" cy="973750"/>
            <a:chOff x="0" y="0"/>
            <a:chExt cx="1298333" cy="1298333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298333" cy="1298333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>
                  <a:alpha val="40000"/>
                </a:srgbClr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2176" tIns="52176" rIns="52176" bIns="52176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21144" y="121144"/>
              <a:ext cx="1056045" cy="1056045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1320" tIns="41320" rIns="41320" bIns="4132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5</a:t>
                </a:r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277224" y="4486997"/>
            <a:ext cx="973750" cy="973750"/>
            <a:chOff x="0" y="0"/>
            <a:chExt cx="1298333" cy="1298333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298333" cy="1298333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>
                  <a:alpha val="40000"/>
                </a:srgbClr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2176" tIns="52176" rIns="52176" bIns="52176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21144" y="121144"/>
              <a:ext cx="1056045" cy="1056045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1320" tIns="41320" rIns="41320" bIns="4132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6</a:t>
                </a:r>
              </a:p>
            </p:txBody>
          </p:sp>
        </p:grpSp>
      </p:grpSp>
      <p:grpSp>
        <p:nvGrpSpPr>
          <p:cNvPr id="22" name="Group 22"/>
          <p:cNvGrpSpPr/>
          <p:nvPr/>
        </p:nvGrpSpPr>
        <p:grpSpPr>
          <a:xfrm>
            <a:off x="332174" y="7394766"/>
            <a:ext cx="973750" cy="973750"/>
            <a:chOff x="0" y="0"/>
            <a:chExt cx="1298333" cy="1298333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298333" cy="1298333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>
                  <a:alpha val="40000"/>
                </a:srgbClr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2176" tIns="52176" rIns="52176" bIns="52176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21144" y="121144"/>
              <a:ext cx="1056045" cy="1056045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1320" tIns="41320" rIns="41320" bIns="4132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7</a:t>
                </a:r>
              </a:p>
            </p:txBody>
          </p:sp>
        </p:grpSp>
      </p:grpSp>
      <p:sp>
        <p:nvSpPr>
          <p:cNvPr id="29" name="Freeform 29"/>
          <p:cNvSpPr/>
          <p:nvPr/>
        </p:nvSpPr>
        <p:spPr>
          <a:xfrm>
            <a:off x="10902342" y="3344749"/>
            <a:ext cx="6356958" cy="6356958"/>
          </a:xfrm>
          <a:custGeom>
            <a:avLst/>
            <a:gdLst/>
            <a:ahLst/>
            <a:cxnLst/>
            <a:rect l="l" t="t" r="r" b="b"/>
            <a:pathLst>
              <a:path w="6356958" h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428238" y="1193206"/>
            <a:ext cx="814990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Assignment &amp; Grading Pain Points</a:t>
            </a:r>
          </a:p>
          <a:p>
            <a:pPr algn="ctr">
              <a:lnSpc>
                <a:spcPts val="4079"/>
              </a:lnSpc>
            </a:pPr>
            <a:endParaRPr lang="en-US" sz="33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97424" y="1632456"/>
            <a:ext cx="8630640" cy="2389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8"/>
              </a:lnSpc>
            </a:pPr>
            <a:endParaRPr/>
          </a:p>
          <a:p>
            <a:pPr marL="496354" lvl="1" indent="-248177" algn="ctr">
              <a:lnSpc>
                <a:spcPts val="3218"/>
              </a:lnSpc>
              <a:buFont typeface="Arial"/>
              <a:buChar char="•"/>
            </a:pPr>
            <a:r>
              <a:rPr lang="en-US" sz="229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Manual grading overload delays results </a:t>
            </a:r>
          </a:p>
          <a:p>
            <a:pPr marL="496354" lvl="1" indent="-248177" algn="ctr">
              <a:lnSpc>
                <a:spcPts val="3218"/>
              </a:lnSpc>
              <a:buFont typeface="Arial"/>
              <a:buChar char="•"/>
            </a:pPr>
            <a:r>
              <a:rPr lang="en-US" sz="229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Inconsistent marking → unfair scores </a:t>
            </a:r>
          </a:p>
          <a:p>
            <a:pPr marL="496354" lvl="1" indent="-248177" algn="ctr">
              <a:lnSpc>
                <a:spcPts val="3218"/>
              </a:lnSpc>
              <a:buFont typeface="Arial"/>
              <a:buChar char="•"/>
            </a:pPr>
            <a:r>
              <a:rPr lang="en-US" sz="229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No instant test feedback → errors stay unnoticed , cannot improve before exams</a:t>
            </a:r>
          </a:p>
          <a:p>
            <a:pPr marL="496354" lvl="1" indent="-248177" algn="ctr">
              <a:lnSpc>
                <a:spcPts val="3218"/>
              </a:lnSpc>
              <a:buFont typeface="Arial"/>
              <a:buChar char="•"/>
            </a:pPr>
            <a:r>
              <a:rPr lang="en-US" sz="229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Plagiarism detection is manual &amp; slow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95602" y="4486997"/>
            <a:ext cx="744507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Communication &amp; Engangement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05924" y="5294367"/>
            <a:ext cx="8327166" cy="198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354" lvl="1" indent="-248177" algn="ctr">
              <a:lnSpc>
                <a:spcPts val="3218"/>
              </a:lnSpc>
              <a:buFont typeface="Arial"/>
              <a:buChar char="•"/>
            </a:pPr>
            <a:r>
              <a:rPr lang="en-US" sz="229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Students miss updates about classes/assignments </a:t>
            </a:r>
          </a:p>
          <a:p>
            <a:pPr marL="496354" lvl="1" indent="-248177" algn="ctr">
              <a:lnSpc>
                <a:spcPts val="3218"/>
              </a:lnSpc>
              <a:buFont typeface="Arial"/>
              <a:buChar char="•"/>
            </a:pPr>
            <a:r>
              <a:rPr lang="en-US" sz="229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No personalized nudges → all get generic info </a:t>
            </a:r>
          </a:p>
          <a:p>
            <a:pPr marL="496354" lvl="1" indent="-248177" algn="ctr">
              <a:lnSpc>
                <a:spcPts val="3219"/>
              </a:lnSpc>
              <a:buFont typeface="Arial"/>
              <a:buChar char="•"/>
            </a:pPr>
            <a:r>
              <a:rPr lang="en-US" sz="229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Teachers can’t follow-up individually with 100+ student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05924" y="7394766"/>
            <a:ext cx="68358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Safety &amp; Well-Being Issues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05924" y="8320890"/>
            <a:ext cx="7743252" cy="198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354" lvl="1" indent="-248177" algn="ctr">
              <a:lnSpc>
                <a:spcPts val="3218"/>
              </a:lnSpc>
              <a:buFont typeface="Arial"/>
              <a:buChar char="•"/>
            </a:pPr>
            <a:r>
              <a:rPr lang="en-US" sz="229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50%+ bullying cases go unreported (NCERT)</a:t>
            </a:r>
          </a:p>
          <a:p>
            <a:pPr marL="496354" lvl="1" indent="-248177" algn="ctr">
              <a:lnSpc>
                <a:spcPts val="3218"/>
              </a:lnSpc>
              <a:buFont typeface="Arial"/>
              <a:buChar char="•"/>
            </a:pPr>
            <a:r>
              <a:rPr lang="en-US" sz="229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No panic alert system for fire/medical/security</a:t>
            </a:r>
          </a:p>
          <a:p>
            <a:pPr marL="496354" lvl="1" indent="-248177" algn="ctr">
              <a:lnSpc>
                <a:spcPts val="3218"/>
              </a:lnSpc>
              <a:buFont typeface="Arial"/>
              <a:buChar char="•"/>
            </a:pPr>
            <a:r>
              <a:rPr lang="en-US" sz="229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Mental health struggles detected too late</a:t>
            </a:r>
          </a:p>
          <a:p>
            <a:pPr algn="ctr">
              <a:lnSpc>
                <a:spcPts val="3219"/>
              </a:lnSpc>
            </a:pPr>
            <a:endParaRPr lang="en-US" sz="2298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915047" y="42545"/>
            <a:ext cx="11546298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999" b="1">
                <a:solidFill>
                  <a:srgbClr val="000000"/>
                </a:solidFill>
                <a:latin typeface="Tex Gyre Bonum Bold"/>
                <a:ea typeface="Tex Gyre Bonum Bold"/>
                <a:cs typeface="Tex Gyre Bonum Bold"/>
                <a:sym typeface="Tex Gyre Bonum Bold"/>
              </a:rPr>
              <a:t>Pain </a:t>
            </a:r>
            <a:r>
              <a:rPr lang="en-US" sz="6999" b="1">
                <a:solidFill>
                  <a:srgbClr val="FEFEFE"/>
                </a:solidFill>
                <a:latin typeface="Tex Gyre Bonum Bold"/>
                <a:ea typeface="Tex Gyre Bonum Bold"/>
                <a:cs typeface="Tex Gyre Bonum Bold"/>
                <a:sym typeface="Tex Gyre Bonum Bold"/>
              </a:rPr>
              <a:t> Points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9011" y="454016"/>
            <a:ext cx="599689" cy="599689"/>
            <a:chOff x="0" y="0"/>
            <a:chExt cx="799585" cy="79958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99585" cy="799585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0F0F0F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8989" y="178989"/>
              <a:ext cx="441606" cy="441606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1887664" y="1842186"/>
            <a:ext cx="14828566" cy="8101252"/>
          </a:xfrm>
          <a:custGeom>
            <a:avLst/>
            <a:gdLst/>
            <a:ahLst/>
            <a:cxnLst/>
            <a:rect l="l" t="t" r="r" b="b"/>
            <a:pathLst>
              <a:path w="14828566" h="8101252">
                <a:moveTo>
                  <a:pt x="0" y="0"/>
                </a:moveTo>
                <a:lnTo>
                  <a:pt x="14828566" y="0"/>
                </a:lnTo>
                <a:lnTo>
                  <a:pt x="14828566" y="8101252"/>
                </a:lnTo>
                <a:lnTo>
                  <a:pt x="0" y="8101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950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15325" y="257035"/>
            <a:ext cx="17339062" cy="1079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16"/>
              </a:lnSpc>
            </a:pPr>
            <a:r>
              <a:rPr lang="en-US" sz="7700">
                <a:solidFill>
                  <a:srgbClr val="000000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Turning Pain Points into Solutions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792390" y="9498131"/>
            <a:ext cx="1466910" cy="388112"/>
            <a:chOff x="0" y="0"/>
            <a:chExt cx="386347" cy="1022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347" cy="102219"/>
            </a:xfrm>
            <a:custGeom>
              <a:avLst/>
              <a:gdLst/>
              <a:ahLst/>
              <a:cxnLst/>
              <a:rect l="l" t="t" r="r" b="b"/>
              <a:pathLst>
                <a:path w="386347" h="102219">
                  <a:moveTo>
                    <a:pt x="51109" y="0"/>
                  </a:moveTo>
                  <a:lnTo>
                    <a:pt x="335237" y="0"/>
                  </a:lnTo>
                  <a:cubicBezTo>
                    <a:pt x="348792" y="0"/>
                    <a:pt x="361792" y="5385"/>
                    <a:pt x="371377" y="14970"/>
                  </a:cubicBezTo>
                  <a:cubicBezTo>
                    <a:pt x="380962" y="24554"/>
                    <a:pt x="386347" y="37554"/>
                    <a:pt x="386347" y="51109"/>
                  </a:cubicBezTo>
                  <a:lnTo>
                    <a:pt x="386347" y="51109"/>
                  </a:lnTo>
                  <a:cubicBezTo>
                    <a:pt x="386347" y="79336"/>
                    <a:pt x="363464" y="102219"/>
                    <a:pt x="335237" y="102219"/>
                  </a:cubicBezTo>
                  <a:lnTo>
                    <a:pt x="51109" y="102219"/>
                  </a:lnTo>
                  <a:cubicBezTo>
                    <a:pt x="37554" y="102219"/>
                    <a:pt x="24554" y="96834"/>
                    <a:pt x="14970" y="87249"/>
                  </a:cubicBezTo>
                  <a:cubicBezTo>
                    <a:pt x="5385" y="77664"/>
                    <a:pt x="0" y="64664"/>
                    <a:pt x="0" y="51109"/>
                  </a:cubicBezTo>
                  <a:lnTo>
                    <a:pt x="0" y="51109"/>
                  </a:lnTo>
                  <a:cubicBezTo>
                    <a:pt x="0" y="37554"/>
                    <a:pt x="5385" y="24554"/>
                    <a:pt x="14970" y="14970"/>
                  </a:cubicBezTo>
                  <a:cubicBezTo>
                    <a:pt x="24554" y="5385"/>
                    <a:pt x="37554" y="0"/>
                    <a:pt x="51109" y="0"/>
                  </a:cubicBezTo>
                  <a:close/>
                </a:path>
              </a:pathLst>
            </a:custGeom>
            <a:solidFill>
              <a:srgbClr val="0F0F0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86347" cy="140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08"/>
                </a:lnSpc>
              </a:pPr>
              <a:r>
                <a:rPr lang="en-US" sz="1220" spc="97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NEXT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047750"/>
            <a:ext cx="10946864" cy="1251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2"/>
              </a:lnSpc>
            </a:pPr>
            <a:r>
              <a:rPr lang="en-US" sz="840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Attendance System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866043" y="1364364"/>
            <a:ext cx="599689" cy="599689"/>
            <a:chOff x="0" y="0"/>
            <a:chExt cx="799585" cy="799585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799585" cy="799585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0F0F0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78989" y="178989"/>
              <a:ext cx="441606" cy="44160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</p:grpSp>
      <p:sp>
        <p:nvSpPr>
          <p:cNvPr id="13" name="AutoShape 13"/>
          <p:cNvSpPr/>
          <p:nvPr/>
        </p:nvSpPr>
        <p:spPr>
          <a:xfrm flipH="1" flipV="1">
            <a:off x="288744" y="3076003"/>
            <a:ext cx="16230600" cy="0"/>
          </a:xfrm>
          <a:prstGeom prst="line">
            <a:avLst/>
          </a:prstGeom>
          <a:ln w="9525" cap="flat">
            <a:solidFill>
              <a:srgbClr val="0F0F0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8394519" y="3316353"/>
            <a:ext cx="4762" cy="6634910"/>
          </a:xfrm>
          <a:prstGeom prst="line">
            <a:avLst/>
          </a:prstGeom>
          <a:ln w="9525" cap="flat">
            <a:solidFill>
              <a:srgbClr val="0F0F0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2303457" y="4504435"/>
            <a:ext cx="3512069" cy="5153511"/>
          </a:xfrm>
          <a:custGeom>
            <a:avLst/>
            <a:gdLst/>
            <a:ahLst/>
            <a:cxnLst/>
            <a:rect l="l" t="t" r="r" b="b"/>
            <a:pathLst>
              <a:path w="3512069" h="5153511">
                <a:moveTo>
                  <a:pt x="0" y="0"/>
                </a:moveTo>
                <a:lnTo>
                  <a:pt x="3512069" y="0"/>
                </a:lnTo>
                <a:lnTo>
                  <a:pt x="3512069" y="5153511"/>
                </a:lnTo>
                <a:lnTo>
                  <a:pt x="0" y="51535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900" t="-3450" r="-25900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598637" y="4415154"/>
            <a:ext cx="4295173" cy="5187752"/>
          </a:xfrm>
          <a:custGeom>
            <a:avLst/>
            <a:gdLst/>
            <a:ahLst/>
            <a:cxnLst/>
            <a:rect l="l" t="t" r="r" b="b"/>
            <a:pathLst>
              <a:path w="4295173" h="5187752">
                <a:moveTo>
                  <a:pt x="0" y="0"/>
                </a:moveTo>
                <a:lnTo>
                  <a:pt x="4295173" y="0"/>
                </a:lnTo>
                <a:lnTo>
                  <a:pt x="4295173" y="5187752"/>
                </a:lnTo>
                <a:lnTo>
                  <a:pt x="0" y="5187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557" t="-14601" r="-23427" b="-8750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28700" y="2454528"/>
            <a:ext cx="6061584" cy="426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8"/>
              </a:lnSpc>
            </a:pPr>
            <a:r>
              <a:rPr lang="en-US" sz="122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Our team is focused on the both modes of the attendance like on teacher side checklist attendance and biometric facial attendance  from the students side.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83956" y="3185540"/>
            <a:ext cx="6641889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From teacher Side Attendance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1071" y="3185540"/>
            <a:ext cx="6134721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Biometric Attendance from student side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9564806"/>
            <a:ext cx="412855" cy="21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8"/>
              </a:lnSpc>
            </a:pPr>
            <a:r>
              <a:rPr lang="en-US" sz="122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2029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0694" y="2447932"/>
            <a:ext cx="14918137" cy="7981203"/>
          </a:xfrm>
          <a:custGeom>
            <a:avLst/>
            <a:gdLst/>
            <a:ahLst/>
            <a:cxnLst/>
            <a:rect l="l" t="t" r="r" b="b"/>
            <a:pathLst>
              <a:path w="14918137" h="7981203">
                <a:moveTo>
                  <a:pt x="0" y="0"/>
                </a:moveTo>
                <a:lnTo>
                  <a:pt x="14918137" y="0"/>
                </a:lnTo>
                <a:lnTo>
                  <a:pt x="14918137" y="7981203"/>
                </a:lnTo>
                <a:lnTo>
                  <a:pt x="0" y="79812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00694" y="256696"/>
            <a:ext cx="12065986" cy="1133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750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AI based Marking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00694" y="1323500"/>
            <a:ext cx="807945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Teacher side Grades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0835" y="1924808"/>
            <a:ext cx="12643952" cy="7333492"/>
          </a:xfrm>
          <a:custGeom>
            <a:avLst/>
            <a:gdLst/>
            <a:ahLst/>
            <a:cxnLst/>
            <a:rect l="l" t="t" r="r" b="b"/>
            <a:pathLst>
              <a:path w="12643952" h="7333492">
                <a:moveTo>
                  <a:pt x="0" y="0"/>
                </a:moveTo>
                <a:lnTo>
                  <a:pt x="12643952" y="0"/>
                </a:lnTo>
                <a:lnTo>
                  <a:pt x="12643952" y="7333492"/>
                </a:lnTo>
                <a:lnTo>
                  <a:pt x="0" y="7333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491125" y="256696"/>
            <a:ext cx="13283717" cy="1133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750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AI based Proper Feedback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91125" y="1323500"/>
            <a:ext cx="8079455" cy="4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Student Side Feedback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6441" y="849400"/>
            <a:ext cx="15259163" cy="2394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2"/>
              </a:lnSpc>
            </a:pPr>
            <a:r>
              <a:rPr lang="en-US" sz="840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Unified Academic Analytics Dashboard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227" y="5860935"/>
            <a:ext cx="13271230" cy="21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8"/>
              </a:lnSpc>
            </a:pPr>
            <a:r>
              <a:rPr lang="en-US" sz="122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This diverse revenue model ensures long-term profitability and sustainable growth.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33227" y="230661"/>
            <a:ext cx="560396" cy="599689"/>
            <a:chOff x="0" y="0"/>
            <a:chExt cx="759544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59544" cy="812800"/>
            </a:xfrm>
            <a:custGeom>
              <a:avLst/>
              <a:gdLst/>
              <a:ahLst/>
              <a:cxnLst/>
              <a:rect l="l" t="t" r="r" b="b"/>
              <a:pathLst>
                <a:path w="759544" h="812800">
                  <a:moveTo>
                    <a:pt x="379772" y="0"/>
                  </a:moveTo>
                  <a:cubicBezTo>
                    <a:pt x="170030" y="0"/>
                    <a:pt x="0" y="181951"/>
                    <a:pt x="0" y="406400"/>
                  </a:cubicBezTo>
                  <a:cubicBezTo>
                    <a:pt x="0" y="630849"/>
                    <a:pt x="170030" y="812800"/>
                    <a:pt x="379772" y="812800"/>
                  </a:cubicBezTo>
                  <a:cubicBezTo>
                    <a:pt x="589514" y="812800"/>
                    <a:pt x="759544" y="630849"/>
                    <a:pt x="759544" y="406400"/>
                  </a:cubicBezTo>
                  <a:cubicBezTo>
                    <a:pt x="759544" y="181951"/>
                    <a:pt x="589514" y="0"/>
                    <a:pt x="3797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0F0F0F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207" y="19050"/>
              <a:ext cx="617129" cy="717550"/>
            </a:xfrm>
            <a:prstGeom prst="rect">
              <a:avLst/>
            </a:prstGeom>
          </p:spPr>
          <p:txBody>
            <a:bodyPr lIns="27186" tIns="27186" rIns="27186" bIns="27186" rtlCol="0" anchor="ctr"/>
            <a:lstStyle/>
            <a:p>
              <a:pPr algn="ctr">
                <a:lnSpc>
                  <a:spcPts val="2771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36441" y="364903"/>
            <a:ext cx="353968" cy="331204"/>
            <a:chOff x="0" y="0"/>
            <a:chExt cx="868665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8665" cy="812800"/>
            </a:xfrm>
            <a:custGeom>
              <a:avLst/>
              <a:gdLst/>
              <a:ahLst/>
              <a:cxnLst/>
              <a:rect l="l" t="t" r="r" b="b"/>
              <a:pathLst>
                <a:path w="868665" h="812800">
                  <a:moveTo>
                    <a:pt x="434332" y="0"/>
                  </a:moveTo>
                  <a:cubicBezTo>
                    <a:pt x="194457" y="0"/>
                    <a:pt x="0" y="181951"/>
                    <a:pt x="0" y="406400"/>
                  </a:cubicBezTo>
                  <a:cubicBezTo>
                    <a:pt x="0" y="630849"/>
                    <a:pt x="194457" y="812800"/>
                    <a:pt x="434332" y="812800"/>
                  </a:cubicBezTo>
                  <a:cubicBezTo>
                    <a:pt x="674207" y="812800"/>
                    <a:pt x="868665" y="630849"/>
                    <a:pt x="868665" y="406400"/>
                  </a:cubicBezTo>
                  <a:cubicBezTo>
                    <a:pt x="868665" y="181951"/>
                    <a:pt x="674207" y="0"/>
                    <a:pt x="434332" y="0"/>
                  </a:cubicBezTo>
                  <a:close/>
                </a:path>
              </a:pathLst>
            </a:custGeom>
            <a:solidFill>
              <a:srgbClr val="0F0F0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81437" y="19050"/>
              <a:ext cx="705790" cy="717550"/>
            </a:xfrm>
            <a:prstGeom prst="rect">
              <a:avLst/>
            </a:prstGeom>
          </p:spPr>
          <p:txBody>
            <a:bodyPr lIns="27186" tIns="27186" rIns="27186" bIns="27186" rtlCol="0" anchor="ctr"/>
            <a:lstStyle/>
            <a:p>
              <a:pPr algn="ctr">
                <a:lnSpc>
                  <a:spcPts val="2771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792390" y="9498131"/>
            <a:ext cx="1466910" cy="388112"/>
            <a:chOff x="0" y="0"/>
            <a:chExt cx="386347" cy="1022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6347" cy="102219"/>
            </a:xfrm>
            <a:custGeom>
              <a:avLst/>
              <a:gdLst/>
              <a:ahLst/>
              <a:cxnLst/>
              <a:rect l="l" t="t" r="r" b="b"/>
              <a:pathLst>
                <a:path w="386347" h="102219">
                  <a:moveTo>
                    <a:pt x="51109" y="0"/>
                  </a:moveTo>
                  <a:lnTo>
                    <a:pt x="335237" y="0"/>
                  </a:lnTo>
                  <a:cubicBezTo>
                    <a:pt x="348792" y="0"/>
                    <a:pt x="361792" y="5385"/>
                    <a:pt x="371377" y="14970"/>
                  </a:cubicBezTo>
                  <a:cubicBezTo>
                    <a:pt x="380962" y="24554"/>
                    <a:pt x="386347" y="37554"/>
                    <a:pt x="386347" y="51109"/>
                  </a:cubicBezTo>
                  <a:lnTo>
                    <a:pt x="386347" y="51109"/>
                  </a:lnTo>
                  <a:cubicBezTo>
                    <a:pt x="386347" y="79336"/>
                    <a:pt x="363464" y="102219"/>
                    <a:pt x="335237" y="102219"/>
                  </a:cubicBezTo>
                  <a:lnTo>
                    <a:pt x="51109" y="102219"/>
                  </a:lnTo>
                  <a:cubicBezTo>
                    <a:pt x="37554" y="102219"/>
                    <a:pt x="24554" y="96834"/>
                    <a:pt x="14970" y="87249"/>
                  </a:cubicBezTo>
                  <a:cubicBezTo>
                    <a:pt x="5385" y="77664"/>
                    <a:pt x="0" y="64664"/>
                    <a:pt x="0" y="51109"/>
                  </a:cubicBezTo>
                  <a:lnTo>
                    <a:pt x="0" y="51109"/>
                  </a:lnTo>
                  <a:cubicBezTo>
                    <a:pt x="0" y="37554"/>
                    <a:pt x="5385" y="24554"/>
                    <a:pt x="14970" y="14970"/>
                  </a:cubicBezTo>
                  <a:cubicBezTo>
                    <a:pt x="24554" y="5385"/>
                    <a:pt x="37554" y="0"/>
                    <a:pt x="51109" y="0"/>
                  </a:cubicBezTo>
                  <a:close/>
                </a:path>
              </a:pathLst>
            </a:custGeom>
            <a:solidFill>
              <a:srgbClr val="0F0F0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6347" cy="140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08"/>
                </a:lnSpc>
              </a:pPr>
              <a:r>
                <a:rPr lang="en-US" sz="1220" spc="97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NEXT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7353630" y="3728736"/>
            <a:ext cx="1080681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7353630" y="5761615"/>
            <a:ext cx="1080681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7353630" y="7709258"/>
            <a:ext cx="1080681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Freeform 16"/>
          <p:cNvSpPr/>
          <p:nvPr/>
        </p:nvSpPr>
        <p:spPr>
          <a:xfrm>
            <a:off x="533227" y="3728736"/>
            <a:ext cx="6437083" cy="4449932"/>
          </a:xfrm>
          <a:custGeom>
            <a:avLst/>
            <a:gdLst/>
            <a:ahLst/>
            <a:cxnLst/>
            <a:rect l="l" t="t" r="r" b="b"/>
            <a:pathLst>
              <a:path w="6437083" h="4449932">
                <a:moveTo>
                  <a:pt x="0" y="0"/>
                </a:moveTo>
                <a:lnTo>
                  <a:pt x="6437083" y="0"/>
                </a:lnTo>
                <a:lnTo>
                  <a:pt x="6437083" y="4449933"/>
                </a:lnTo>
                <a:lnTo>
                  <a:pt x="0" y="4449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63" t="-41964" r="-18688" b="-53251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353630" y="3947811"/>
            <a:ext cx="10806814" cy="577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619">
                <a:solidFill>
                  <a:srgbClr val="626262"/>
                </a:solidFill>
                <a:latin typeface="Poppins"/>
                <a:ea typeface="Poppins"/>
                <a:cs typeface="Poppins"/>
                <a:sym typeface="Poppins"/>
              </a:rPr>
              <a:t>The dashboard provides a comprehensive view of student, class, and institution-level performance, centralizing critical academic data.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53630" y="5906078"/>
            <a:ext cx="10806814" cy="577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619">
                <a:solidFill>
                  <a:srgbClr val="626262"/>
                </a:solidFill>
                <a:latin typeface="Poppins"/>
                <a:ea typeface="Poppins"/>
                <a:cs typeface="Poppins"/>
                <a:sym typeface="Poppins"/>
              </a:rPr>
              <a:t>It features "at-risk" scores and alerts to quickly identify students who may need intervention, enabling timely support.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53630" y="7794983"/>
            <a:ext cx="10806814" cy="577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619">
                <a:solidFill>
                  <a:srgbClr val="626262"/>
                </a:solidFill>
                <a:latin typeface="Poppins"/>
                <a:ea typeface="Poppins"/>
                <a:cs typeface="Poppins"/>
                <a:sym typeface="Poppins"/>
              </a:rPr>
              <a:t>Designed to empower educators and administrators with actionable data to improve student outcomes, curriculum, and operational efficiency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53630" y="3048858"/>
            <a:ext cx="1080681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Educational Insights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53630" y="5057775"/>
            <a:ext cx="1080681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Proactive Risk Identification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53630" y="7017455"/>
            <a:ext cx="1080681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Data-Driven Decision Making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9564806"/>
            <a:ext cx="412855" cy="21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8"/>
              </a:lnSpc>
            </a:pPr>
            <a:r>
              <a:rPr lang="en-US" sz="122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2029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04044" y="9564806"/>
            <a:ext cx="1479912" cy="21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8"/>
              </a:lnSpc>
            </a:pPr>
            <a:r>
              <a:rPr lang="en-US" sz="122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Presentation Slide</a:t>
            </a: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792390" y="9498131"/>
            <a:ext cx="1466910" cy="388112"/>
            <a:chOff x="0" y="0"/>
            <a:chExt cx="386347" cy="1022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347" cy="102219"/>
            </a:xfrm>
            <a:custGeom>
              <a:avLst/>
              <a:gdLst/>
              <a:ahLst/>
              <a:cxnLst/>
              <a:rect l="l" t="t" r="r" b="b"/>
              <a:pathLst>
                <a:path w="386347" h="102219">
                  <a:moveTo>
                    <a:pt x="51109" y="0"/>
                  </a:moveTo>
                  <a:lnTo>
                    <a:pt x="335237" y="0"/>
                  </a:lnTo>
                  <a:cubicBezTo>
                    <a:pt x="348792" y="0"/>
                    <a:pt x="361792" y="5385"/>
                    <a:pt x="371377" y="14970"/>
                  </a:cubicBezTo>
                  <a:cubicBezTo>
                    <a:pt x="380962" y="24554"/>
                    <a:pt x="386347" y="37554"/>
                    <a:pt x="386347" y="51109"/>
                  </a:cubicBezTo>
                  <a:lnTo>
                    <a:pt x="386347" y="51109"/>
                  </a:lnTo>
                  <a:cubicBezTo>
                    <a:pt x="386347" y="79336"/>
                    <a:pt x="363464" y="102219"/>
                    <a:pt x="335237" y="102219"/>
                  </a:cubicBezTo>
                  <a:lnTo>
                    <a:pt x="51109" y="102219"/>
                  </a:lnTo>
                  <a:cubicBezTo>
                    <a:pt x="37554" y="102219"/>
                    <a:pt x="24554" y="96834"/>
                    <a:pt x="14970" y="87249"/>
                  </a:cubicBezTo>
                  <a:cubicBezTo>
                    <a:pt x="5385" y="77664"/>
                    <a:pt x="0" y="64664"/>
                    <a:pt x="0" y="51109"/>
                  </a:cubicBezTo>
                  <a:lnTo>
                    <a:pt x="0" y="51109"/>
                  </a:lnTo>
                  <a:cubicBezTo>
                    <a:pt x="0" y="37554"/>
                    <a:pt x="5385" y="24554"/>
                    <a:pt x="14970" y="14970"/>
                  </a:cubicBezTo>
                  <a:cubicBezTo>
                    <a:pt x="24554" y="5385"/>
                    <a:pt x="37554" y="0"/>
                    <a:pt x="51109" y="0"/>
                  </a:cubicBezTo>
                  <a:close/>
                </a:path>
              </a:pathLst>
            </a:custGeom>
            <a:solidFill>
              <a:srgbClr val="0F0F0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86347" cy="140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08"/>
                </a:lnSpc>
              </a:pPr>
              <a:r>
                <a:rPr lang="en-US" sz="1220" spc="97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NEXT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123589" y="920524"/>
            <a:ext cx="12065986" cy="1251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2"/>
              </a:lnSpc>
            </a:pPr>
            <a:r>
              <a:rPr lang="en-US" sz="840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AI Chat Assistant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332190" y="1265226"/>
            <a:ext cx="4185263" cy="2032630"/>
            <a:chOff x="0" y="0"/>
            <a:chExt cx="5580351" cy="2710173"/>
          </a:xfrm>
        </p:grpSpPr>
        <p:sp>
          <p:nvSpPr>
            <p:cNvPr id="7" name="TextBox 7"/>
            <p:cNvSpPr txBox="1"/>
            <p:nvPr/>
          </p:nvSpPr>
          <p:spPr>
            <a:xfrm>
              <a:off x="0" y="1034535"/>
              <a:ext cx="5580351" cy="16756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72"/>
                </a:lnSpc>
              </a:pPr>
              <a:endParaRPr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799585" cy="799585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0F0F0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78989" y="178989"/>
              <a:ext cx="441606" cy="441606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3191"/>
                  </a:lnSpc>
                </a:pPr>
                <a:endParaRPr/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>
            <a:off x="-1597711" y="-1259664"/>
            <a:ext cx="4576729" cy="457672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0F0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2568846" y="2590517"/>
            <a:ext cx="5711952" cy="6522382"/>
          </a:xfrm>
          <a:custGeom>
            <a:avLst/>
            <a:gdLst/>
            <a:ahLst/>
            <a:cxnLst/>
            <a:rect l="l" t="t" r="r" b="b"/>
            <a:pathLst>
              <a:path w="5711952" h="6522382">
                <a:moveTo>
                  <a:pt x="0" y="0"/>
                </a:moveTo>
                <a:lnTo>
                  <a:pt x="5711952" y="0"/>
                </a:lnTo>
                <a:lnTo>
                  <a:pt x="5711952" y="6522382"/>
                </a:lnTo>
                <a:lnTo>
                  <a:pt x="0" y="6522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436" t="-17623" r="-28038" b="-19409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144000" y="2287270"/>
            <a:ext cx="7897787" cy="799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b="1">
                <a:solidFill>
                  <a:srgbClr val="0F0F0F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Personalized Student Support</a:t>
            </a:r>
            <a:r>
              <a:rPr lang="en-US" sz="2299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: The AI acts as a dedicated assistant, offering tailored information and guidance to individual students.</a:t>
            </a:r>
          </a:p>
          <a:p>
            <a:pPr algn="l">
              <a:lnSpc>
                <a:spcPts val="3219"/>
              </a:lnSpc>
            </a:pPr>
            <a:endParaRPr lang="en-US" sz="2299">
              <a:solidFill>
                <a:srgbClr val="0F0F0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96567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b="1">
                <a:solidFill>
                  <a:srgbClr val="0F0F0F"/>
                </a:solidFill>
                <a:latin typeface="Poppins Bold"/>
                <a:ea typeface="Poppins Bold"/>
                <a:cs typeface="Poppins Bold"/>
                <a:sym typeface="Poppins Bold"/>
              </a:rPr>
              <a:t>Instant Information Access</a:t>
            </a:r>
            <a:r>
              <a:rPr lang="en-US" sz="2299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: Students can quickly get answers to common questions about attendance, assignment due dates, or general advice without waiting for a human.</a:t>
            </a:r>
          </a:p>
          <a:p>
            <a:pPr algn="l">
              <a:lnSpc>
                <a:spcPts val="3219"/>
              </a:lnSpc>
            </a:pPr>
            <a:endParaRPr lang="en-US" sz="2299">
              <a:solidFill>
                <a:srgbClr val="0F0F0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96567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b="1">
                <a:solidFill>
                  <a:srgbClr val="0F0F0F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Feedback &amp; Guidance</a:t>
            </a:r>
            <a:r>
              <a:rPr lang="en-US" sz="2299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: The AI analyzes student performance (e.g., test scores, areas of weakness) and provides constructive feedback and recommendations for improvement.</a:t>
            </a:r>
          </a:p>
          <a:p>
            <a:pPr algn="l">
              <a:lnSpc>
                <a:spcPts val="3219"/>
              </a:lnSpc>
            </a:pPr>
            <a:endParaRPr lang="en-US" sz="2299">
              <a:solidFill>
                <a:srgbClr val="0F0F0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96567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b="1">
                <a:solidFill>
                  <a:srgbClr val="0F0F0F"/>
                </a:solidFill>
                <a:latin typeface="Poppins Bold"/>
                <a:ea typeface="Poppins Bold"/>
                <a:cs typeface="Poppins Bold"/>
                <a:sym typeface="Poppins Bold"/>
              </a:rPr>
              <a:t>Academic Advising &amp; Tips</a:t>
            </a:r>
            <a:r>
              <a:rPr lang="en-US" sz="2299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: It can offer timely advice, such as essay writing tips or study strategies, based on the student's current needs or upcoming tasks.</a:t>
            </a:r>
          </a:p>
          <a:p>
            <a:pPr algn="l">
              <a:lnSpc>
                <a:spcPts val="3219"/>
              </a:lnSpc>
            </a:pPr>
            <a:endParaRPr lang="en-US" sz="2299">
              <a:solidFill>
                <a:srgbClr val="0F0F0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792390" y="9498131"/>
            <a:ext cx="1466910" cy="388112"/>
            <a:chOff x="0" y="0"/>
            <a:chExt cx="386347" cy="1022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347" cy="102219"/>
            </a:xfrm>
            <a:custGeom>
              <a:avLst/>
              <a:gdLst/>
              <a:ahLst/>
              <a:cxnLst/>
              <a:rect l="l" t="t" r="r" b="b"/>
              <a:pathLst>
                <a:path w="386347" h="102219">
                  <a:moveTo>
                    <a:pt x="51109" y="0"/>
                  </a:moveTo>
                  <a:lnTo>
                    <a:pt x="335237" y="0"/>
                  </a:lnTo>
                  <a:cubicBezTo>
                    <a:pt x="348792" y="0"/>
                    <a:pt x="361792" y="5385"/>
                    <a:pt x="371377" y="14970"/>
                  </a:cubicBezTo>
                  <a:cubicBezTo>
                    <a:pt x="380962" y="24554"/>
                    <a:pt x="386347" y="37554"/>
                    <a:pt x="386347" y="51109"/>
                  </a:cubicBezTo>
                  <a:lnTo>
                    <a:pt x="386347" y="51109"/>
                  </a:lnTo>
                  <a:cubicBezTo>
                    <a:pt x="386347" y="79336"/>
                    <a:pt x="363464" y="102219"/>
                    <a:pt x="335237" y="102219"/>
                  </a:cubicBezTo>
                  <a:lnTo>
                    <a:pt x="51109" y="102219"/>
                  </a:lnTo>
                  <a:cubicBezTo>
                    <a:pt x="37554" y="102219"/>
                    <a:pt x="24554" y="96834"/>
                    <a:pt x="14970" y="87249"/>
                  </a:cubicBezTo>
                  <a:cubicBezTo>
                    <a:pt x="5385" y="77664"/>
                    <a:pt x="0" y="64664"/>
                    <a:pt x="0" y="51109"/>
                  </a:cubicBezTo>
                  <a:lnTo>
                    <a:pt x="0" y="51109"/>
                  </a:lnTo>
                  <a:cubicBezTo>
                    <a:pt x="0" y="37554"/>
                    <a:pt x="5385" y="24554"/>
                    <a:pt x="14970" y="14970"/>
                  </a:cubicBezTo>
                  <a:cubicBezTo>
                    <a:pt x="24554" y="5385"/>
                    <a:pt x="37554" y="0"/>
                    <a:pt x="51109" y="0"/>
                  </a:cubicBezTo>
                  <a:close/>
                </a:path>
              </a:pathLst>
            </a:custGeom>
            <a:solidFill>
              <a:srgbClr val="0F0F0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86347" cy="140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08"/>
                </a:lnSpc>
              </a:pPr>
              <a:r>
                <a:rPr lang="en-US" sz="1220" spc="97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NEXT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88744" y="601630"/>
            <a:ext cx="599689" cy="599689"/>
            <a:chOff x="0" y="0"/>
            <a:chExt cx="799585" cy="799585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799585" cy="799585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0F0F0F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78989" y="178989"/>
              <a:ext cx="441606" cy="441606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</p:grpSp>
      <p:sp>
        <p:nvSpPr>
          <p:cNvPr id="12" name="AutoShape 12"/>
          <p:cNvSpPr/>
          <p:nvPr/>
        </p:nvSpPr>
        <p:spPr>
          <a:xfrm flipH="1" flipV="1">
            <a:off x="295245" y="1748373"/>
            <a:ext cx="16230600" cy="0"/>
          </a:xfrm>
          <a:prstGeom prst="line">
            <a:avLst/>
          </a:prstGeom>
          <a:ln w="9525" cap="flat">
            <a:solidFill>
              <a:srgbClr val="0F0F0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1028700" y="2261683"/>
            <a:ext cx="15274462" cy="6727900"/>
          </a:xfrm>
          <a:custGeom>
            <a:avLst/>
            <a:gdLst/>
            <a:ahLst/>
            <a:cxnLst/>
            <a:rect l="l" t="t" r="r" b="b"/>
            <a:pathLst>
              <a:path w="15274462" h="6727900">
                <a:moveTo>
                  <a:pt x="0" y="0"/>
                </a:moveTo>
                <a:lnTo>
                  <a:pt x="15274462" y="0"/>
                </a:lnTo>
                <a:lnTo>
                  <a:pt x="15274462" y="6727900"/>
                </a:lnTo>
                <a:lnTo>
                  <a:pt x="0" y="6727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7772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291718"/>
            <a:ext cx="13891228" cy="1251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2"/>
              </a:lnSpc>
            </a:pPr>
            <a:r>
              <a:rPr lang="en-US" sz="840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High-Level Architecture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9564806"/>
            <a:ext cx="412855" cy="21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8"/>
              </a:lnSpc>
            </a:pPr>
            <a:r>
              <a:rPr lang="en-US" sz="122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2029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9011" y="606416"/>
            <a:ext cx="599689" cy="599689"/>
            <a:chOff x="0" y="0"/>
            <a:chExt cx="799585" cy="79958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99585" cy="799585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FEFEFE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8989" y="178989"/>
              <a:ext cx="441606" cy="441606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EFE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6391101" y="2765901"/>
            <a:ext cx="5505798" cy="7029450"/>
            <a:chOff x="0" y="0"/>
            <a:chExt cx="1450087" cy="1851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50087" cy="1851378"/>
            </a:xfrm>
            <a:custGeom>
              <a:avLst/>
              <a:gdLst/>
              <a:ahLst/>
              <a:cxnLst/>
              <a:rect l="l" t="t" r="r" b="b"/>
              <a:pathLst>
                <a:path w="1450087" h="1851378">
                  <a:moveTo>
                    <a:pt x="0" y="0"/>
                  </a:moveTo>
                  <a:lnTo>
                    <a:pt x="1450087" y="0"/>
                  </a:lnTo>
                  <a:lnTo>
                    <a:pt x="1450087" y="1851378"/>
                  </a:lnTo>
                  <a:lnTo>
                    <a:pt x="0" y="1851378"/>
                  </a:lnTo>
                  <a:close/>
                </a:path>
              </a:pathLst>
            </a:custGeom>
            <a:solidFill>
              <a:srgbClr val="1A73E8">
                <a:alpha val="49804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450087" cy="1908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/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028700" y="2765901"/>
          <a:ext cx="16230600" cy="7029451"/>
        </p:xfrm>
        <a:graphic>
          <a:graphicData uri="http://schemas.openxmlformats.org/drawingml/2006/table">
            <a:tbl>
              <a:tblPr/>
              <a:tblGrid>
                <a:gridCol w="541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1613">
                <a:tc>
                  <a:txBody>
                    <a:bodyPr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1">
                          <a:solidFill>
                            <a:srgbClr val="FEFEFE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Existing Systems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1">
                          <a:solidFill>
                            <a:srgbClr val="FEFEFE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Our Feature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1">
                          <a:solidFill>
                            <a:srgbClr val="FEFEFE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Impact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9344">
                <a:tc>
                  <a:txBody>
                    <a:bodyPr/>
                    <a:lstStyle/>
                    <a:p>
                      <a:pPr algn="just">
                        <a:lnSpc>
                          <a:spcPts val="2771"/>
                        </a:lnSpc>
                        <a:defRPr/>
                      </a:pPr>
                      <a:r>
                        <a:rPr lang="en-US" sz="1979" b="1">
                          <a:solidFill>
                            <a:srgbClr val="FEFEFE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Manual/proxy attendance errors; separate marks &amp; attendance; slow systems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771"/>
                        </a:lnSpc>
                        <a:defRPr/>
                      </a:pPr>
                      <a:r>
                        <a:rPr lang="en-US" sz="1979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Biometric + Teacher Portal Attendance &amp; Unified Analytics Dashboard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771"/>
                        </a:lnSpc>
                        <a:defRPr/>
                      </a:pPr>
                      <a:r>
                        <a:rPr lang="en-US" sz="1979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Accurate tracking, no proxy, early      detection of 80% at-risk students, 30+     hrs saved/semester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4575">
                <a:tc>
                  <a:txBody>
                    <a:bodyPr/>
                    <a:lstStyle/>
                    <a:p>
                      <a:pPr algn="just">
                        <a:lnSpc>
                          <a:spcPts val="2771"/>
                        </a:lnSpc>
                        <a:defRPr/>
                      </a:pPr>
                      <a:r>
                        <a:rPr lang="en-US" sz="1979" b="1">
                          <a:solidFill>
                            <a:srgbClr val="FEFEFE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Assignments stored but not graded; delays in feedback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771"/>
                        </a:lnSpc>
                        <a:defRPr/>
                      </a:pPr>
                      <a:r>
                        <a:rPr lang="en-US" sz="1979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AI Assignment Checker with Instant Feedback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771"/>
                        </a:lnSpc>
                        <a:defRPr/>
                      </a:pPr>
                      <a:r>
                        <a:rPr lang="en-US" sz="1979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70% faster grading, personalized student learning &amp; improvement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4575">
                <a:tc>
                  <a:txBody>
                    <a:bodyPr/>
                    <a:lstStyle/>
                    <a:p>
                      <a:pPr algn="just">
                        <a:lnSpc>
                          <a:spcPts val="2771"/>
                        </a:lnSpc>
                        <a:defRPr/>
                      </a:pPr>
                      <a:r>
                        <a:rPr lang="en-US" sz="1979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Existing dashboards are passive; complex, admin-heavy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771"/>
                        </a:lnSpc>
                        <a:defRPr/>
                      </a:pPr>
                      <a:r>
                        <a:rPr lang="en-US" sz="1979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Google-like Interface + AI Chatbot with Proactive Alerts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771"/>
                        </a:lnSpc>
                        <a:defRPr/>
                      </a:pPr>
                      <a:r>
                        <a:rPr lang="en-US" sz="1979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Easy adoption, real-time nudges → higher engagement &amp; accountability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9344">
                <a:tc>
                  <a:txBody>
                    <a:bodyPr/>
                    <a:lstStyle/>
                    <a:p>
                      <a:pPr algn="just">
                        <a:lnSpc>
                          <a:spcPts val="2771"/>
                        </a:lnSpc>
                        <a:defRPr/>
                      </a:pPr>
                      <a:r>
                        <a:rPr lang="en-US" sz="1979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Weak security; poor scalability, no offline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771"/>
                        </a:lnSpc>
                        <a:defRPr/>
                      </a:pPr>
                      <a:r>
                        <a:rPr lang="en-US" sz="1979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Encrypted Records, Hashed Biometrics, Cloud-Native &amp; Offline-Ready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771"/>
                        </a:lnSpc>
                        <a:defRPr/>
                      </a:pPr>
                      <a:r>
                        <a:rPr lang="en-US" sz="1979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Privacy ensured, reliable for thousands of students, audit trail for disputes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1567725" y="409435"/>
            <a:ext cx="17339062" cy="1079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16"/>
              </a:lnSpc>
            </a:pPr>
            <a:r>
              <a:rPr lang="en-US" sz="7700">
                <a:solidFill>
                  <a:srgbClr val="FEFEFE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Existing Systems vs Our Solution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648</Words>
  <Application>Microsoft Office PowerPoint</Application>
  <PresentationFormat>Custom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Tex Gyre Bonum Bold</vt:lpstr>
      <vt:lpstr>Poppins</vt:lpstr>
      <vt:lpstr>Tex Gyre Bonum</vt:lpstr>
      <vt:lpstr>Calibri</vt:lpstr>
      <vt:lpstr>Garet Bold</vt:lpstr>
      <vt:lpstr>Poppins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Minimalist Dark Pitch Deck Presentation</dc:title>
  <cp:lastModifiedBy>Pruthviraj Gawande</cp:lastModifiedBy>
  <cp:revision>2</cp:revision>
  <dcterms:created xsi:type="dcterms:W3CDTF">2006-08-16T00:00:00Z</dcterms:created>
  <dcterms:modified xsi:type="dcterms:W3CDTF">2025-09-28T05:16:00Z</dcterms:modified>
  <dc:identifier>DAGzPlPMqLs</dc:identifier>
</cp:coreProperties>
</file>