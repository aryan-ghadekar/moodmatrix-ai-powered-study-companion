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60" r:id="rId4"/>
    <p:sldId id="269" r:id="rId5"/>
    <p:sldId id="275" r:id="rId6"/>
  </p:sldIdLst>
  <p:sldSz cx="18288000" cy="10287000"/>
  <p:notesSz cx="6858000" cy="9144000"/>
  <p:embeddedFontLst>
    <p:embeddedFont>
      <p:font typeface="Garet Bold" panose="020B0604020202020204" charset="0"/>
      <p:regular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  <p:embeddedFont>
      <p:font typeface="Poppins Bold" panose="00000800000000000000" charset="0"/>
      <p:regular r:id="rId12"/>
    </p:embeddedFont>
    <p:embeddedFont>
      <p:font typeface="Tex Gyre Bonum" panose="020B0604020202020204" charset="0"/>
      <p:regular r:id="rId13"/>
    </p:embeddedFont>
    <p:embeddedFont>
      <p:font typeface="Tex Gyre Bonum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54" y="53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rthakadam2007/AiAssigmentChecker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0" y="-190500"/>
            <a:ext cx="7374141" cy="1617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87"/>
              </a:lnSpc>
            </a:pPr>
            <a:r>
              <a:rPr lang="en-US" sz="6600" dirty="0">
                <a:solidFill>
                  <a:srgbClr val="0F0F0F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Rookie Geeks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258800" y="-1464881"/>
            <a:ext cx="5557769" cy="578362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10010" y="632011"/>
            <a:ext cx="599689" cy="599689"/>
            <a:chOff x="0" y="0"/>
            <a:chExt cx="799585" cy="79958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7430868" y="9132276"/>
            <a:ext cx="1466910" cy="388112"/>
            <a:chOff x="0" y="0"/>
            <a:chExt cx="386347" cy="1022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896498" y="570671"/>
            <a:ext cx="4572000" cy="87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93"/>
              </a:lnSpc>
            </a:pPr>
            <a:r>
              <a:rPr lang="en-US" sz="6600" b="1" dirty="0">
                <a:solidFill>
                  <a:srgbClr val="0F0F0F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  <a:r>
              <a:rPr lang="en-US" sz="6600" dirty="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80306" y="6190858"/>
            <a:ext cx="10216493" cy="749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6579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0F0F"/>
                </a:solidFill>
                <a:latin typeface="Poppins Bold"/>
                <a:ea typeface="Poppins"/>
                <a:cs typeface="Poppins Bold"/>
                <a:sym typeface="Poppins Bold"/>
              </a:rPr>
              <a:t>Project Name</a:t>
            </a:r>
            <a:r>
              <a:rPr lang="en-US" sz="3200" dirty="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Ai Automated Smart Classroom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80306" y="7712159"/>
            <a:ext cx="16083894" cy="75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6693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0F0F"/>
                </a:solidFill>
                <a:latin typeface="Poppins Bold"/>
                <a:ea typeface="Poppins"/>
                <a:cs typeface="Poppins Bold"/>
                <a:sym typeface="Poppins Bold"/>
              </a:rPr>
              <a:t>GitHub Repo</a:t>
            </a:r>
            <a:r>
              <a:rPr lang="en-US" sz="3200" b="1" dirty="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3200" dirty="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https://github.com/parthakadam2007/AiAssigmentChecker</a:t>
            </a:r>
            <a:endParaRPr lang="en-US" sz="3200" dirty="0">
              <a:solidFill>
                <a:srgbClr val="0F0F0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09C3A290-44B0-30F9-84EE-415BA86DF5C3}"/>
              </a:ext>
            </a:extLst>
          </p:cNvPr>
          <p:cNvSpPr txBox="1"/>
          <p:nvPr/>
        </p:nvSpPr>
        <p:spPr>
          <a:xfrm>
            <a:off x="2344406" y="2458899"/>
            <a:ext cx="9376627" cy="3274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6593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0F0F"/>
                </a:solidFill>
                <a:latin typeface="Poppins Bold"/>
                <a:ea typeface="Poppins"/>
                <a:cs typeface="Poppins Bold"/>
                <a:sym typeface="Poppins Bold"/>
              </a:rPr>
              <a:t>Members:      </a:t>
            </a:r>
            <a:r>
              <a:rPr lang="en-US" sz="3200" dirty="0">
                <a:solidFill>
                  <a:srgbClr val="0F0F0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Pruthviraj Gawande</a:t>
            </a:r>
          </a:p>
          <a:p>
            <a:pPr algn="l">
              <a:lnSpc>
                <a:spcPts val="6593"/>
              </a:lnSpc>
            </a:pPr>
            <a:r>
              <a:rPr lang="en-US" sz="3200" dirty="0">
                <a:solidFill>
                  <a:srgbClr val="0F0F0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                           Pranav Gawande</a:t>
            </a:r>
          </a:p>
          <a:p>
            <a:pPr algn="l">
              <a:lnSpc>
                <a:spcPts val="6593"/>
              </a:lnSpc>
            </a:pPr>
            <a:r>
              <a:rPr lang="en-US" sz="3200" dirty="0">
                <a:solidFill>
                  <a:srgbClr val="0F0F0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                           Parth Kadam</a:t>
            </a:r>
          </a:p>
          <a:p>
            <a:pPr algn="l">
              <a:lnSpc>
                <a:spcPts val="6593"/>
              </a:lnSpc>
            </a:pPr>
            <a:r>
              <a:rPr lang="en-US" sz="3200" dirty="0">
                <a:solidFill>
                  <a:srgbClr val="0F0F0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                           </a:t>
            </a:r>
            <a:r>
              <a:rPr lang="en-US" sz="3200" dirty="0" err="1">
                <a:solidFill>
                  <a:srgbClr val="0F0F0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Prashik</a:t>
            </a:r>
            <a:r>
              <a:rPr lang="en-US" sz="3200" dirty="0">
                <a:solidFill>
                  <a:srgbClr val="0F0F0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 Bold"/>
              </a:rPr>
              <a:t> Sasane</a:t>
            </a:r>
            <a:endParaRPr lang="en-US" sz="3200" dirty="0">
              <a:solidFill>
                <a:srgbClr val="0F0F0F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862887" y="-1250679"/>
            <a:ext cx="11204058" cy="1217697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71"/>
              </a:lnSpc>
            </a:pPr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359619" y="1603256"/>
            <a:ext cx="808832" cy="812589"/>
            <a:chOff x="0" y="0"/>
            <a:chExt cx="1261269" cy="126126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5943600" y="121196"/>
            <a:ext cx="11546298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999" b="1" dirty="0">
                <a:latin typeface="Tex Gyre Bonum Bold"/>
                <a:ea typeface="Tex Gyre Bonum Bold"/>
                <a:cs typeface="Tex Gyre Bonum Bold"/>
                <a:sym typeface="Tex Gyre Bonum Bold"/>
              </a:rPr>
              <a:t>Pain Points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6926" y="1794821"/>
            <a:ext cx="530478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Poppins Bold" panose="00000800000000000000" charset="0"/>
                <a:ea typeface="Garet Bold"/>
                <a:cs typeface="Poppins Bold" panose="00000800000000000000" charset="0"/>
                <a:sym typeface="Garet Bold"/>
              </a:rPr>
              <a:t>Attendance &amp; Time Loss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6926" y="2570485"/>
            <a:ext cx="7376309" cy="148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8–10 mins wasted per class = 30+ lectures lost per year for every subject.</a:t>
            </a:r>
          </a:p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Causes Teachers Fatigue</a:t>
            </a:r>
          </a:p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Proxy attendance &amp; Errors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6926" y="4476217"/>
            <a:ext cx="681888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Visibility &amp; Analytics Gap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9869" y="5083986"/>
            <a:ext cx="7107638" cy="1098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No single dashboard for attendance, grades, submissions</a:t>
            </a:r>
          </a:p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Teachers can’t identify at-risk students early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65600" y="7280079"/>
            <a:ext cx="78019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0F0F0F"/>
                </a:solidFill>
                <a:latin typeface="Garet Bold"/>
                <a:ea typeface="Garet Bold"/>
                <a:cs typeface="Garet Bold"/>
                <a:sym typeface="Garet Bold"/>
              </a:rPr>
              <a:t>Administrative Pain Points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9117" y="7938059"/>
            <a:ext cx="7743252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Hard to generate reports for management/NAAC </a:t>
            </a:r>
          </a:p>
          <a:p>
            <a:pPr marL="453175" lvl="1" indent="-226587">
              <a:lnSpc>
                <a:spcPts val="2938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 No analytics for decision-making (dropouts, low performers) </a:t>
            </a:r>
          </a:p>
          <a:p>
            <a:pPr marL="453175" lvl="1" indent="-226587">
              <a:lnSpc>
                <a:spcPts val="2939"/>
              </a:lnSpc>
              <a:buFont typeface="Arial"/>
              <a:buChar char="•"/>
            </a:pPr>
            <a:r>
              <a:rPr lang="en-US" sz="2099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 Disputes over attendance/marks take time due to no audit trail</a:t>
            </a:r>
          </a:p>
        </p:txBody>
      </p:sp>
      <p:sp>
        <p:nvSpPr>
          <p:cNvPr id="74" name="TextBox 30">
            <a:extLst>
              <a:ext uri="{FF2B5EF4-FFF2-40B4-BE49-F238E27FC236}">
                <a16:creationId xmlns:a16="http://schemas.microsoft.com/office/drawing/2014/main" id="{D59EDA05-96B1-B2C7-2EA3-3A2D54C8E0C1}"/>
              </a:ext>
            </a:extLst>
          </p:cNvPr>
          <p:cNvSpPr txBox="1"/>
          <p:nvPr/>
        </p:nvSpPr>
        <p:spPr>
          <a:xfrm>
            <a:off x="10004603" y="1763711"/>
            <a:ext cx="814990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Assignment &amp; Grading Pain Points</a:t>
            </a:r>
          </a:p>
          <a:p>
            <a:pPr algn="ctr">
              <a:lnSpc>
                <a:spcPts val="4079"/>
              </a:lnSpc>
            </a:pPr>
            <a:endParaRPr lang="en-US" sz="33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5" name="TextBox 31">
            <a:extLst>
              <a:ext uri="{FF2B5EF4-FFF2-40B4-BE49-F238E27FC236}">
                <a16:creationId xmlns:a16="http://schemas.microsoft.com/office/drawing/2014/main" id="{7B473AE4-E0E8-4371-CD25-C0D6AD45E47A}"/>
              </a:ext>
            </a:extLst>
          </p:cNvPr>
          <p:cNvSpPr txBox="1"/>
          <p:nvPr/>
        </p:nvSpPr>
        <p:spPr>
          <a:xfrm>
            <a:off x="10004603" y="2182952"/>
            <a:ext cx="8630640" cy="202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8"/>
              </a:lnSpc>
            </a:pPr>
            <a:endParaRPr dirty="0"/>
          </a:p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Manual grading overload delays results </a:t>
            </a:r>
          </a:p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Inconsistent marking → unfair scores </a:t>
            </a:r>
          </a:p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No instant test feedback → errors stay unnoticed , cannot improve before exam</a:t>
            </a:r>
          </a:p>
        </p:txBody>
      </p:sp>
      <p:sp>
        <p:nvSpPr>
          <p:cNvPr id="76" name="TextBox 32">
            <a:extLst>
              <a:ext uri="{FF2B5EF4-FFF2-40B4-BE49-F238E27FC236}">
                <a16:creationId xmlns:a16="http://schemas.microsoft.com/office/drawing/2014/main" id="{404A7499-1AD0-AD89-4244-EB6107412B86}"/>
              </a:ext>
            </a:extLst>
          </p:cNvPr>
          <p:cNvSpPr txBox="1"/>
          <p:nvPr/>
        </p:nvSpPr>
        <p:spPr>
          <a:xfrm>
            <a:off x="10105649" y="4406189"/>
            <a:ext cx="744507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Communication &amp; </a:t>
            </a:r>
            <a:r>
              <a:rPr lang="en-US" sz="3399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Engangement</a:t>
            </a:r>
            <a:endParaRPr lang="en-US" sz="33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77" name="TextBox 33">
            <a:extLst>
              <a:ext uri="{FF2B5EF4-FFF2-40B4-BE49-F238E27FC236}">
                <a16:creationId xmlns:a16="http://schemas.microsoft.com/office/drawing/2014/main" id="{7B4A1E35-CD03-C818-C35B-915319B6DD9C}"/>
              </a:ext>
            </a:extLst>
          </p:cNvPr>
          <p:cNvSpPr txBox="1"/>
          <p:nvPr/>
        </p:nvSpPr>
        <p:spPr>
          <a:xfrm>
            <a:off x="10004603" y="5084610"/>
            <a:ext cx="8327166" cy="120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 Students miss updates about classes/assignments </a:t>
            </a:r>
          </a:p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  No personalized nudges → all get generic info </a:t>
            </a:r>
          </a:p>
          <a:p>
            <a:pPr marL="496354" lvl="1" indent="-248177">
              <a:lnSpc>
                <a:spcPts val="3219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 Teachers can’t follow-up individually with 100+ student</a:t>
            </a:r>
          </a:p>
        </p:txBody>
      </p:sp>
      <p:sp>
        <p:nvSpPr>
          <p:cNvPr id="78" name="TextBox 34">
            <a:extLst>
              <a:ext uri="{FF2B5EF4-FFF2-40B4-BE49-F238E27FC236}">
                <a16:creationId xmlns:a16="http://schemas.microsoft.com/office/drawing/2014/main" id="{5DA973ED-64E1-5321-6230-36A068CEB66F}"/>
              </a:ext>
            </a:extLst>
          </p:cNvPr>
          <p:cNvSpPr txBox="1"/>
          <p:nvPr/>
        </p:nvSpPr>
        <p:spPr>
          <a:xfrm>
            <a:off x="9860749" y="7100140"/>
            <a:ext cx="683588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Safety &amp; Well-Being Issues</a:t>
            </a:r>
          </a:p>
        </p:txBody>
      </p:sp>
      <p:sp>
        <p:nvSpPr>
          <p:cNvPr id="105" name="TextBox 35">
            <a:extLst>
              <a:ext uri="{FF2B5EF4-FFF2-40B4-BE49-F238E27FC236}">
                <a16:creationId xmlns:a16="http://schemas.microsoft.com/office/drawing/2014/main" id="{99AB68CD-8421-4875-76F4-D52317B44F53}"/>
              </a:ext>
            </a:extLst>
          </p:cNvPr>
          <p:cNvSpPr txBox="1"/>
          <p:nvPr/>
        </p:nvSpPr>
        <p:spPr>
          <a:xfrm>
            <a:off x="10022891" y="7938059"/>
            <a:ext cx="7743252" cy="162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50%+ bullying cases go unreported (NCERT)</a:t>
            </a:r>
          </a:p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No panic alert system for fire/medical/security</a:t>
            </a:r>
          </a:p>
          <a:p>
            <a:pPr marL="496354" lvl="1" indent="-248177">
              <a:lnSpc>
                <a:spcPts val="3218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Poppins" panose="00000500000000000000" pitchFamily="2" charset="0"/>
                <a:ea typeface="Garet Bold"/>
                <a:cs typeface="Poppins" panose="00000500000000000000" pitchFamily="2" charset="0"/>
                <a:sym typeface="Garet Bold"/>
              </a:rPr>
              <a:t>Mental health struggles detected too late</a:t>
            </a:r>
          </a:p>
          <a:p>
            <a:pPr algn="ctr">
              <a:lnSpc>
                <a:spcPts val="3219"/>
              </a:lnSpc>
            </a:pPr>
            <a:endParaRPr lang="en-US" sz="2298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grpSp>
        <p:nvGrpSpPr>
          <p:cNvPr id="106" name="Group 8">
            <a:extLst>
              <a:ext uri="{FF2B5EF4-FFF2-40B4-BE49-F238E27FC236}">
                <a16:creationId xmlns:a16="http://schemas.microsoft.com/office/drawing/2014/main" id="{54C3FA4E-1C6B-6196-22EF-993D3658498A}"/>
              </a:ext>
            </a:extLst>
          </p:cNvPr>
          <p:cNvGrpSpPr/>
          <p:nvPr/>
        </p:nvGrpSpPr>
        <p:grpSpPr>
          <a:xfrm>
            <a:off x="330001" y="4227083"/>
            <a:ext cx="808832" cy="812589"/>
            <a:chOff x="0" y="0"/>
            <a:chExt cx="1261269" cy="1261269"/>
          </a:xfrm>
        </p:grpSpPr>
        <p:grpSp>
          <p:nvGrpSpPr>
            <p:cNvPr id="107" name="Group 9">
              <a:extLst>
                <a:ext uri="{FF2B5EF4-FFF2-40B4-BE49-F238E27FC236}">
                  <a16:creationId xmlns:a16="http://schemas.microsoft.com/office/drawing/2014/main" id="{8681FA31-C22D-969B-E39C-2F4026928097}"/>
                </a:ext>
              </a:extLst>
            </p:cNvPr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11" name="Freeform 10">
                <a:extLst>
                  <a:ext uri="{FF2B5EF4-FFF2-40B4-BE49-F238E27FC236}">
                    <a16:creationId xmlns:a16="http://schemas.microsoft.com/office/drawing/2014/main" id="{2C2E52A8-5ECE-A354-75F8-A55FA02DB7D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12" name="TextBox 11">
                <a:extLst>
                  <a:ext uri="{FF2B5EF4-FFF2-40B4-BE49-F238E27FC236}">
                    <a16:creationId xmlns:a16="http://schemas.microsoft.com/office/drawing/2014/main" id="{87A7363D-8DCD-BE14-F1A7-A3BD8578923A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08" name="Group 12">
              <a:extLst>
                <a:ext uri="{FF2B5EF4-FFF2-40B4-BE49-F238E27FC236}">
                  <a16:creationId xmlns:a16="http://schemas.microsoft.com/office/drawing/2014/main" id="{24D5A71D-AC02-8CCC-4382-4FD6212CB4EF}"/>
                </a:ext>
              </a:extLst>
            </p:cNvPr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09" name="Freeform 13">
                <a:extLst>
                  <a:ext uri="{FF2B5EF4-FFF2-40B4-BE49-F238E27FC236}">
                    <a16:creationId xmlns:a16="http://schemas.microsoft.com/office/drawing/2014/main" id="{896E2297-E842-E6C4-ED18-005B80DE86D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10" name="TextBox 14">
                <a:extLst>
                  <a:ext uri="{FF2B5EF4-FFF2-40B4-BE49-F238E27FC236}">
                    <a16:creationId xmlns:a16="http://schemas.microsoft.com/office/drawing/2014/main" id="{7B089A37-8EAF-4691-7E64-698590A649B2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</a:t>
                </a:r>
              </a:p>
            </p:txBody>
          </p:sp>
        </p:grpSp>
      </p:grpSp>
      <p:grpSp>
        <p:nvGrpSpPr>
          <p:cNvPr id="113" name="Group 8">
            <a:extLst>
              <a:ext uri="{FF2B5EF4-FFF2-40B4-BE49-F238E27FC236}">
                <a16:creationId xmlns:a16="http://schemas.microsoft.com/office/drawing/2014/main" id="{3A898AA5-F7AE-A6BF-E33F-4C5CF9DD1D91}"/>
              </a:ext>
            </a:extLst>
          </p:cNvPr>
          <p:cNvGrpSpPr/>
          <p:nvPr/>
        </p:nvGrpSpPr>
        <p:grpSpPr>
          <a:xfrm>
            <a:off x="359618" y="7100140"/>
            <a:ext cx="808832" cy="812589"/>
            <a:chOff x="0" y="0"/>
            <a:chExt cx="1261269" cy="1261269"/>
          </a:xfrm>
        </p:grpSpPr>
        <p:grpSp>
          <p:nvGrpSpPr>
            <p:cNvPr id="114" name="Group 9">
              <a:extLst>
                <a:ext uri="{FF2B5EF4-FFF2-40B4-BE49-F238E27FC236}">
                  <a16:creationId xmlns:a16="http://schemas.microsoft.com/office/drawing/2014/main" id="{14BDD3C0-ADA7-1409-2BBF-DE14F1EE9A82}"/>
                </a:ext>
              </a:extLst>
            </p:cNvPr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18" name="Freeform 10">
                <a:extLst>
                  <a:ext uri="{FF2B5EF4-FFF2-40B4-BE49-F238E27FC236}">
                    <a16:creationId xmlns:a16="http://schemas.microsoft.com/office/drawing/2014/main" id="{9262A8C2-B529-CA7B-F1A7-B575829B076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19" name="TextBox 11">
                <a:extLst>
                  <a:ext uri="{FF2B5EF4-FFF2-40B4-BE49-F238E27FC236}">
                    <a16:creationId xmlns:a16="http://schemas.microsoft.com/office/drawing/2014/main" id="{3A291F0C-4522-B04F-A48A-FDF2CC3A44F3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15" name="Group 12">
              <a:extLst>
                <a:ext uri="{FF2B5EF4-FFF2-40B4-BE49-F238E27FC236}">
                  <a16:creationId xmlns:a16="http://schemas.microsoft.com/office/drawing/2014/main" id="{FA557CC0-CE63-6089-194A-58AF5B0E9A5A}"/>
                </a:ext>
              </a:extLst>
            </p:cNvPr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16" name="Freeform 13">
                <a:extLst>
                  <a:ext uri="{FF2B5EF4-FFF2-40B4-BE49-F238E27FC236}">
                    <a16:creationId xmlns:a16="http://schemas.microsoft.com/office/drawing/2014/main" id="{4EF7BF65-13BB-0145-ED05-33464B3375F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17" name="TextBox 14">
                <a:extLst>
                  <a:ext uri="{FF2B5EF4-FFF2-40B4-BE49-F238E27FC236}">
                    <a16:creationId xmlns:a16="http://schemas.microsoft.com/office/drawing/2014/main" id="{02DE4274-A5B5-A7C8-5F7E-6B743FFDECB4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</a:t>
                </a:r>
              </a:p>
            </p:txBody>
          </p:sp>
        </p:grpSp>
      </p:grpSp>
      <p:grpSp>
        <p:nvGrpSpPr>
          <p:cNvPr id="120" name="Group 8">
            <a:extLst>
              <a:ext uri="{FF2B5EF4-FFF2-40B4-BE49-F238E27FC236}">
                <a16:creationId xmlns:a16="http://schemas.microsoft.com/office/drawing/2014/main" id="{C9F57F7F-3BE1-E080-FBAF-559B8040349E}"/>
              </a:ext>
            </a:extLst>
          </p:cNvPr>
          <p:cNvGrpSpPr/>
          <p:nvPr/>
        </p:nvGrpSpPr>
        <p:grpSpPr>
          <a:xfrm>
            <a:off x="9127745" y="1622301"/>
            <a:ext cx="808832" cy="812589"/>
            <a:chOff x="0" y="0"/>
            <a:chExt cx="1261269" cy="1261269"/>
          </a:xfrm>
        </p:grpSpPr>
        <p:grpSp>
          <p:nvGrpSpPr>
            <p:cNvPr id="121" name="Group 9">
              <a:extLst>
                <a:ext uri="{FF2B5EF4-FFF2-40B4-BE49-F238E27FC236}">
                  <a16:creationId xmlns:a16="http://schemas.microsoft.com/office/drawing/2014/main" id="{E362E39B-27FB-A0F0-0246-A6A80E01BB05}"/>
                </a:ext>
              </a:extLst>
            </p:cNvPr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25" name="Freeform 10">
                <a:extLst>
                  <a:ext uri="{FF2B5EF4-FFF2-40B4-BE49-F238E27FC236}">
                    <a16:creationId xmlns:a16="http://schemas.microsoft.com/office/drawing/2014/main" id="{DEBC8298-D8AA-6AD0-15D8-897A29AB44C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26" name="TextBox 11">
                <a:extLst>
                  <a:ext uri="{FF2B5EF4-FFF2-40B4-BE49-F238E27FC236}">
                    <a16:creationId xmlns:a16="http://schemas.microsoft.com/office/drawing/2014/main" id="{2B5E8EA7-CB7D-8ED5-C0C3-4E067242DC69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22" name="Group 12">
              <a:extLst>
                <a:ext uri="{FF2B5EF4-FFF2-40B4-BE49-F238E27FC236}">
                  <a16:creationId xmlns:a16="http://schemas.microsoft.com/office/drawing/2014/main" id="{0C3A173B-9997-39E7-2859-2BC241AD0DE6}"/>
                </a:ext>
              </a:extLst>
            </p:cNvPr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23" name="Freeform 13">
                <a:extLst>
                  <a:ext uri="{FF2B5EF4-FFF2-40B4-BE49-F238E27FC236}">
                    <a16:creationId xmlns:a16="http://schemas.microsoft.com/office/drawing/2014/main" id="{DA1AFA0C-F521-D92A-8EEE-C4569E0C95A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24" name="TextBox 14">
                <a:extLst>
                  <a:ext uri="{FF2B5EF4-FFF2-40B4-BE49-F238E27FC236}">
                    <a16:creationId xmlns:a16="http://schemas.microsoft.com/office/drawing/2014/main" id="{8271BC9F-A4A1-58E5-9CE4-06F1863F4D5D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</a:t>
                </a:r>
              </a:p>
            </p:txBody>
          </p:sp>
        </p:grpSp>
      </p:grpSp>
      <p:grpSp>
        <p:nvGrpSpPr>
          <p:cNvPr id="127" name="Group 8">
            <a:extLst>
              <a:ext uri="{FF2B5EF4-FFF2-40B4-BE49-F238E27FC236}">
                <a16:creationId xmlns:a16="http://schemas.microsoft.com/office/drawing/2014/main" id="{A48BEFA8-525F-5286-4993-D52931C96000}"/>
              </a:ext>
            </a:extLst>
          </p:cNvPr>
          <p:cNvGrpSpPr/>
          <p:nvPr/>
        </p:nvGrpSpPr>
        <p:grpSpPr>
          <a:xfrm>
            <a:off x="9079852" y="4227082"/>
            <a:ext cx="808832" cy="812589"/>
            <a:chOff x="0" y="0"/>
            <a:chExt cx="1261269" cy="1261269"/>
          </a:xfrm>
        </p:grpSpPr>
        <p:grpSp>
          <p:nvGrpSpPr>
            <p:cNvPr id="128" name="Group 9">
              <a:extLst>
                <a:ext uri="{FF2B5EF4-FFF2-40B4-BE49-F238E27FC236}">
                  <a16:creationId xmlns:a16="http://schemas.microsoft.com/office/drawing/2014/main" id="{FCFA8788-11D3-56B0-2D5A-955E282408D9}"/>
                </a:ext>
              </a:extLst>
            </p:cNvPr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32" name="Freeform 10">
                <a:extLst>
                  <a:ext uri="{FF2B5EF4-FFF2-40B4-BE49-F238E27FC236}">
                    <a16:creationId xmlns:a16="http://schemas.microsoft.com/office/drawing/2014/main" id="{AAF6BFA9-0522-B269-13E4-98B396A72E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33" name="TextBox 11">
                <a:extLst>
                  <a:ext uri="{FF2B5EF4-FFF2-40B4-BE49-F238E27FC236}">
                    <a16:creationId xmlns:a16="http://schemas.microsoft.com/office/drawing/2014/main" id="{96428020-14B9-32B8-EE57-0D984799DAD1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29" name="Group 12">
              <a:extLst>
                <a:ext uri="{FF2B5EF4-FFF2-40B4-BE49-F238E27FC236}">
                  <a16:creationId xmlns:a16="http://schemas.microsoft.com/office/drawing/2014/main" id="{2A6965FF-9377-EE48-7AB0-B6E9747CB252}"/>
                </a:ext>
              </a:extLst>
            </p:cNvPr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30" name="Freeform 13">
                <a:extLst>
                  <a:ext uri="{FF2B5EF4-FFF2-40B4-BE49-F238E27FC236}">
                    <a16:creationId xmlns:a16="http://schemas.microsoft.com/office/drawing/2014/main" id="{671FF457-86CC-1403-C6E7-D90E7B4B5C4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31" name="TextBox 14">
                <a:extLst>
                  <a:ext uri="{FF2B5EF4-FFF2-40B4-BE49-F238E27FC236}">
                    <a16:creationId xmlns:a16="http://schemas.microsoft.com/office/drawing/2014/main" id="{D56C58C7-784D-F0E2-D959-3052AEB34EEC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</a:t>
                </a:r>
              </a:p>
            </p:txBody>
          </p:sp>
        </p:grpSp>
      </p:grpSp>
      <p:grpSp>
        <p:nvGrpSpPr>
          <p:cNvPr id="134" name="Group 8">
            <a:extLst>
              <a:ext uri="{FF2B5EF4-FFF2-40B4-BE49-F238E27FC236}">
                <a16:creationId xmlns:a16="http://schemas.microsoft.com/office/drawing/2014/main" id="{7F4E6E00-6408-6961-13AE-F11111D3AE8F}"/>
              </a:ext>
            </a:extLst>
          </p:cNvPr>
          <p:cNvGrpSpPr/>
          <p:nvPr/>
        </p:nvGrpSpPr>
        <p:grpSpPr>
          <a:xfrm>
            <a:off x="9127743" y="7007626"/>
            <a:ext cx="808832" cy="812589"/>
            <a:chOff x="0" y="0"/>
            <a:chExt cx="1261269" cy="1261269"/>
          </a:xfrm>
        </p:grpSpPr>
        <p:grpSp>
          <p:nvGrpSpPr>
            <p:cNvPr id="135" name="Group 9">
              <a:extLst>
                <a:ext uri="{FF2B5EF4-FFF2-40B4-BE49-F238E27FC236}">
                  <a16:creationId xmlns:a16="http://schemas.microsoft.com/office/drawing/2014/main" id="{805123D3-5BF6-188D-B2CF-A986E2105F92}"/>
                </a:ext>
              </a:extLst>
            </p:cNvPr>
            <p:cNvGrpSpPr/>
            <p:nvPr/>
          </p:nvGrpSpPr>
          <p:grpSpPr>
            <a:xfrm>
              <a:off x="0" y="0"/>
              <a:ext cx="1261269" cy="1261269"/>
              <a:chOff x="0" y="0"/>
              <a:chExt cx="812800" cy="812800"/>
            </a:xfrm>
          </p:grpSpPr>
          <p:sp>
            <p:nvSpPr>
              <p:cNvPr id="139" name="Freeform 10">
                <a:extLst>
                  <a:ext uri="{FF2B5EF4-FFF2-40B4-BE49-F238E27FC236}">
                    <a16:creationId xmlns:a16="http://schemas.microsoft.com/office/drawing/2014/main" id="{24CD0CE0-5B0A-1898-5E87-2CFACB8D8B3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>
                  <a:alpha val="40000"/>
                </a:srgbClr>
              </a:solidFill>
            </p:spPr>
          </p:sp>
          <p:sp>
            <p:nvSpPr>
              <p:cNvPr id="140" name="TextBox 11">
                <a:extLst>
                  <a:ext uri="{FF2B5EF4-FFF2-40B4-BE49-F238E27FC236}">
                    <a16:creationId xmlns:a16="http://schemas.microsoft.com/office/drawing/2014/main" id="{0C0CE2AA-16B3-6BF8-DBBC-7159463DD16F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2176" tIns="52176" rIns="52176" bIns="52176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36" name="Group 12">
              <a:extLst>
                <a:ext uri="{FF2B5EF4-FFF2-40B4-BE49-F238E27FC236}">
                  <a16:creationId xmlns:a16="http://schemas.microsoft.com/office/drawing/2014/main" id="{058F0D32-3C5C-1765-C115-00319955470E}"/>
                </a:ext>
              </a:extLst>
            </p:cNvPr>
            <p:cNvGrpSpPr/>
            <p:nvPr/>
          </p:nvGrpSpPr>
          <p:grpSpPr>
            <a:xfrm>
              <a:off x="117686" y="117686"/>
              <a:ext cx="1025898" cy="1025898"/>
              <a:chOff x="0" y="0"/>
              <a:chExt cx="812800" cy="812800"/>
            </a:xfrm>
          </p:grpSpPr>
          <p:sp>
            <p:nvSpPr>
              <p:cNvPr id="137" name="Freeform 13">
                <a:extLst>
                  <a:ext uri="{FF2B5EF4-FFF2-40B4-BE49-F238E27FC236}">
                    <a16:creationId xmlns:a16="http://schemas.microsoft.com/office/drawing/2014/main" id="{0BA28492-3981-5DF0-9C73-05A1280A488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38" name="TextBox 14">
                <a:extLst>
                  <a:ext uri="{FF2B5EF4-FFF2-40B4-BE49-F238E27FC236}">
                    <a16:creationId xmlns:a16="http://schemas.microsoft.com/office/drawing/2014/main" id="{D63A82D6-6C4D-239E-14C2-CAFE449A2E47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41320" tIns="41320" rIns="41320" bIns="4132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</a:t>
                </a:r>
              </a:p>
            </p:txBody>
          </p:sp>
        </p:grp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011" y="454016"/>
            <a:ext cx="599689" cy="599689"/>
            <a:chOff x="0" y="0"/>
            <a:chExt cx="799585" cy="7995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887664" y="1842186"/>
            <a:ext cx="14828566" cy="8101252"/>
          </a:xfrm>
          <a:custGeom>
            <a:avLst/>
            <a:gdLst/>
            <a:ahLst/>
            <a:cxnLst/>
            <a:rect l="l" t="t" r="r" b="b"/>
            <a:pathLst>
              <a:path w="14828566" h="8101252">
                <a:moveTo>
                  <a:pt x="0" y="0"/>
                </a:moveTo>
                <a:lnTo>
                  <a:pt x="14828566" y="0"/>
                </a:lnTo>
                <a:lnTo>
                  <a:pt x="14828566" y="8101252"/>
                </a:lnTo>
                <a:lnTo>
                  <a:pt x="0" y="8101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95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15325" y="257035"/>
            <a:ext cx="17339062" cy="10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7700" dirty="0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Turning Pain Points into Solutions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92390" y="9498131"/>
            <a:ext cx="1466910" cy="388112"/>
            <a:chOff x="0" y="0"/>
            <a:chExt cx="386347" cy="1022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347" cy="102219"/>
            </a:xfrm>
            <a:custGeom>
              <a:avLst/>
              <a:gdLst/>
              <a:ahLst/>
              <a:cxnLst/>
              <a:rect l="l" t="t" r="r" b="b"/>
              <a:pathLst>
                <a:path w="386347" h="102219">
                  <a:moveTo>
                    <a:pt x="51109" y="0"/>
                  </a:moveTo>
                  <a:lnTo>
                    <a:pt x="335237" y="0"/>
                  </a:lnTo>
                  <a:cubicBezTo>
                    <a:pt x="348792" y="0"/>
                    <a:pt x="361792" y="5385"/>
                    <a:pt x="371377" y="14970"/>
                  </a:cubicBezTo>
                  <a:cubicBezTo>
                    <a:pt x="380962" y="24554"/>
                    <a:pt x="386347" y="37554"/>
                    <a:pt x="386347" y="51109"/>
                  </a:cubicBezTo>
                  <a:lnTo>
                    <a:pt x="386347" y="51109"/>
                  </a:lnTo>
                  <a:cubicBezTo>
                    <a:pt x="386347" y="79336"/>
                    <a:pt x="363464" y="102219"/>
                    <a:pt x="335237" y="102219"/>
                  </a:cubicBezTo>
                  <a:lnTo>
                    <a:pt x="51109" y="102219"/>
                  </a:lnTo>
                  <a:cubicBezTo>
                    <a:pt x="37554" y="102219"/>
                    <a:pt x="24554" y="96834"/>
                    <a:pt x="14970" y="87249"/>
                  </a:cubicBezTo>
                  <a:cubicBezTo>
                    <a:pt x="5385" y="77664"/>
                    <a:pt x="0" y="64664"/>
                    <a:pt x="0" y="51109"/>
                  </a:cubicBezTo>
                  <a:lnTo>
                    <a:pt x="0" y="51109"/>
                  </a:lnTo>
                  <a:cubicBezTo>
                    <a:pt x="0" y="37554"/>
                    <a:pt x="5385" y="24554"/>
                    <a:pt x="14970" y="14970"/>
                  </a:cubicBezTo>
                  <a:cubicBezTo>
                    <a:pt x="24554" y="5385"/>
                    <a:pt x="37554" y="0"/>
                    <a:pt x="51109" y="0"/>
                  </a:cubicBezTo>
                  <a:close/>
                </a:path>
              </a:pathLst>
            </a:custGeom>
            <a:solidFill>
              <a:srgbClr val="0F0F0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86347" cy="1403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spc="97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NEXT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88744" y="601630"/>
            <a:ext cx="599689" cy="599689"/>
            <a:chOff x="0" y="0"/>
            <a:chExt cx="799585" cy="799585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sp>
        <p:nvSpPr>
          <p:cNvPr id="12" name="AutoShape 12"/>
          <p:cNvSpPr/>
          <p:nvPr/>
        </p:nvSpPr>
        <p:spPr>
          <a:xfrm flipH="1" flipV="1">
            <a:off x="295245" y="1748373"/>
            <a:ext cx="16230600" cy="0"/>
          </a:xfrm>
          <a:prstGeom prst="line">
            <a:avLst/>
          </a:prstGeom>
          <a:ln w="9525" cap="flat">
            <a:solidFill>
              <a:srgbClr val="0F0F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028700" y="2261683"/>
            <a:ext cx="15274462" cy="6727900"/>
          </a:xfrm>
          <a:custGeom>
            <a:avLst/>
            <a:gdLst/>
            <a:ahLst/>
            <a:cxnLst/>
            <a:rect l="l" t="t" r="r" b="b"/>
            <a:pathLst>
              <a:path w="15274462" h="6727900">
                <a:moveTo>
                  <a:pt x="0" y="0"/>
                </a:moveTo>
                <a:lnTo>
                  <a:pt x="15274462" y="0"/>
                </a:lnTo>
                <a:lnTo>
                  <a:pt x="15274462" y="6727900"/>
                </a:lnTo>
                <a:lnTo>
                  <a:pt x="0" y="6727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777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91718"/>
            <a:ext cx="13891228" cy="125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High-Level Architecture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564806"/>
            <a:ext cx="412855" cy="21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8"/>
              </a:lnSpc>
            </a:pPr>
            <a:r>
              <a:rPr lang="en-US" sz="1220">
                <a:solidFill>
                  <a:srgbClr val="0F0F0F"/>
                </a:solidFill>
                <a:latin typeface="Poppins"/>
                <a:ea typeface="Poppins"/>
                <a:cs typeface="Poppins"/>
                <a:sym typeface="Poppins"/>
              </a:rPr>
              <a:t>2029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B20D-2814-4EAF-3411-FE4231436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6B2D73-DE5E-8554-D9FE-C1C451EEE605}"/>
              </a:ext>
            </a:extLst>
          </p:cNvPr>
          <p:cNvGrpSpPr/>
          <p:nvPr/>
        </p:nvGrpSpPr>
        <p:grpSpPr>
          <a:xfrm>
            <a:off x="367792" y="647700"/>
            <a:ext cx="599689" cy="599689"/>
            <a:chOff x="0" y="0"/>
            <a:chExt cx="799585" cy="799585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35F7305-BB87-9A60-6813-BA4EB43BF1EC}"/>
                </a:ext>
              </a:extLst>
            </p:cNvPr>
            <p:cNvGrpSpPr/>
            <p:nvPr/>
          </p:nvGrpSpPr>
          <p:grpSpPr>
            <a:xfrm>
              <a:off x="0" y="0"/>
              <a:ext cx="799585" cy="799585"/>
              <a:chOff x="0" y="0"/>
              <a:chExt cx="812800" cy="812800"/>
            </a:xfrm>
          </p:grpSpPr>
          <p:sp>
            <p:nvSpPr>
              <p:cNvPr id="4" name="Freeform 4">
                <a:extLst>
                  <a:ext uri="{FF2B5EF4-FFF2-40B4-BE49-F238E27FC236}">
                    <a16:creationId xmlns:a16="http://schemas.microsoft.com/office/drawing/2014/main" id="{E0FA481B-39C6-9532-28AA-8BBBEF0E9D4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solidFill>
                  <a:srgbClr val="0F0F0F"/>
                </a:solidFill>
                <a:prstDash val="solid"/>
                <a:miter/>
              </a:ln>
            </p:spPr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BCDEED98-3E19-0944-C8A0-4646901C2E80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E600673-061F-F4E7-458A-D5DD50D520FC}"/>
                </a:ext>
              </a:extLst>
            </p:cNvPr>
            <p:cNvGrpSpPr/>
            <p:nvPr/>
          </p:nvGrpSpPr>
          <p:grpSpPr>
            <a:xfrm>
              <a:off x="178989" y="178989"/>
              <a:ext cx="441606" cy="441606"/>
              <a:chOff x="0" y="0"/>
              <a:chExt cx="812800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530FB283-1E71-98DF-F465-1A3FA4A4C61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0F0F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633B474E-17E6-A628-2E12-4A5B7A6042C2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7186" tIns="27186" rIns="27186" bIns="27186" rtlCol="0" anchor="ctr"/>
              <a:lstStyle/>
              <a:p>
                <a:pPr algn="ctr">
                  <a:lnSpc>
                    <a:spcPts val="2771"/>
                  </a:lnSpc>
                </a:pPr>
                <a:endParaRPr/>
              </a:p>
            </p:txBody>
          </p:sp>
        </p:grp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290AD70-E0EF-EF6E-E827-0C24C546D47B}"/>
              </a:ext>
            </a:extLst>
          </p:cNvPr>
          <p:cNvSpPr txBox="1"/>
          <p:nvPr/>
        </p:nvSpPr>
        <p:spPr>
          <a:xfrm>
            <a:off x="1371600" y="470076"/>
            <a:ext cx="17339062" cy="10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6"/>
              </a:lnSpc>
            </a:pPr>
            <a:r>
              <a:rPr lang="en-US" sz="7700" dirty="0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Technologies Used and Scalability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4B2BCC3C-736E-4EBC-46B8-3AB32172A8EB}"/>
              </a:ext>
            </a:extLst>
          </p:cNvPr>
          <p:cNvSpPr txBox="1"/>
          <p:nvPr/>
        </p:nvSpPr>
        <p:spPr>
          <a:xfrm>
            <a:off x="1020679" y="1846064"/>
            <a:ext cx="7285122" cy="8414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6000" b="1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Tech Stack: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React </a:t>
            </a:r>
            <a:r>
              <a:rPr lang="en-US" sz="4400" dirty="0" err="1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js</a:t>
            </a:r>
            <a:endParaRPr lang="en-US" sz="4400" dirty="0">
              <a:solidFill>
                <a:srgbClr val="0F0F0F"/>
              </a:solidFill>
              <a:latin typeface="Tex Gyre Bonum" panose="020B0604020202020204" charset="0"/>
              <a:ea typeface="Poppins"/>
              <a:cs typeface="Poppins Bold"/>
              <a:sym typeface="Poppins Bold"/>
            </a:endParaRP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Postgres (</a:t>
            </a:r>
            <a:r>
              <a:rPr lang="en-US" sz="4400" dirty="0" err="1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SupaBase</a:t>
            </a: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)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Express </a:t>
            </a:r>
            <a:r>
              <a:rPr lang="en-US" sz="4400" dirty="0" err="1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js</a:t>
            </a:r>
            <a:endParaRPr lang="en-US" sz="4400" dirty="0">
              <a:solidFill>
                <a:srgbClr val="0F0F0F"/>
              </a:solidFill>
              <a:latin typeface="Tex Gyre Bonum" panose="020B0604020202020204" charset="0"/>
              <a:ea typeface="Poppins"/>
              <a:cs typeface="Poppins Bold"/>
              <a:sym typeface="Poppins Bold"/>
            </a:endParaRP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Redux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Nginx</a:t>
            </a: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9F6A2979-C77C-A410-D5CF-FA6865AC1EEB}"/>
              </a:ext>
            </a:extLst>
          </p:cNvPr>
          <p:cNvSpPr txBox="1"/>
          <p:nvPr/>
        </p:nvSpPr>
        <p:spPr>
          <a:xfrm>
            <a:off x="9753600" y="1856090"/>
            <a:ext cx="7285122" cy="5706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6000" b="1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For Scalability: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AWS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Docker</a:t>
            </a:r>
          </a:p>
          <a:p>
            <a:pPr marL="571500" indent="-57150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4400" dirty="0">
                <a:solidFill>
                  <a:srgbClr val="0F0F0F"/>
                </a:solidFill>
                <a:latin typeface="Tex Gyre Bonum" panose="020B0604020202020204" charset="0"/>
                <a:ea typeface="Poppins"/>
                <a:cs typeface="Poppins Bold"/>
                <a:sym typeface="Poppins Bold"/>
              </a:rPr>
              <a:t>Versel</a:t>
            </a:r>
          </a:p>
        </p:txBody>
      </p:sp>
    </p:spTree>
    <p:extLst>
      <p:ext uri="{BB962C8B-B14F-4D97-AF65-F5344CB8AC3E}">
        <p14:creationId xmlns:p14="http://schemas.microsoft.com/office/powerpoint/2010/main" val="422821213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246</Words>
  <Application>Microsoft Office PowerPoint</Application>
  <PresentationFormat>Custom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Garet Bold</vt:lpstr>
      <vt:lpstr>Tex Gyre Bonum</vt:lpstr>
      <vt:lpstr>Tex Gyre Bonum Bold</vt:lpstr>
      <vt:lpstr>Wingdings</vt:lpstr>
      <vt:lpstr>Poppins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Minimalist Dark Pitch Deck Presentation</dc:title>
  <dc:creator>Pruthviraj Gawande</dc:creator>
  <cp:lastModifiedBy>Pruthviraj Gawande</cp:lastModifiedBy>
  <cp:revision>3</cp:revision>
  <dcterms:created xsi:type="dcterms:W3CDTF">2006-08-16T00:00:00Z</dcterms:created>
  <dcterms:modified xsi:type="dcterms:W3CDTF">2025-09-28T13:47:53Z</dcterms:modified>
  <dc:identifier>DAGzPlPMqLs</dc:identifier>
</cp:coreProperties>
</file>